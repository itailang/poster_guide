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0" r:id="rId2"/>
  </p:sldIdLst>
  <p:sldSz cx="50399950" cy="35999738"/>
  <p:notesSz cx="31954788" cy="501491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32">
          <p15:clr>
            <a:srgbClr val="A4A3A4"/>
          </p15:clr>
        </p15:guide>
        <p15:guide id="2" orient="horz" pos="6102">
          <p15:clr>
            <a:srgbClr val="A4A3A4"/>
          </p15:clr>
        </p15:guide>
        <p15:guide id="3" orient="horz" pos="3827">
          <p15:clr>
            <a:srgbClr val="A4A3A4"/>
          </p15:clr>
        </p15:guide>
        <p15:guide id="4" orient="horz" pos="6767">
          <p15:clr>
            <a:srgbClr val="A4A3A4"/>
          </p15:clr>
        </p15:guide>
        <p15:guide id="5" pos="825">
          <p15:clr>
            <a:srgbClr val="A4A3A4"/>
          </p15:clr>
        </p15:guide>
        <p15:guide id="6" pos="7920">
          <p15:clr>
            <a:srgbClr val="A4A3A4"/>
          </p15:clr>
        </p15:guide>
        <p15:guide id="7" pos="8470">
          <p15:clr>
            <a:srgbClr val="A4A3A4"/>
          </p15:clr>
        </p15:guide>
        <p15:guide id="8" pos="15565">
          <p15:clr>
            <a:srgbClr val="A4A3A4"/>
          </p15:clr>
        </p15:guide>
        <p15:guide id="9" pos="16115">
          <p15:clr>
            <a:srgbClr val="A4A3A4"/>
          </p15:clr>
        </p15:guide>
        <p15:guide id="10" pos="23210">
          <p15:clr>
            <a:srgbClr val="A4A3A4"/>
          </p15:clr>
        </p15:guide>
        <p15:guide id="11" pos="23760">
          <p15:clr>
            <a:srgbClr val="A4A3A4"/>
          </p15:clr>
        </p15:guide>
        <p15:guide id="12" pos="308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5795">
          <p15:clr>
            <a:srgbClr val="A4A3A4"/>
          </p15:clr>
        </p15:guide>
        <p15:guide id="2" pos="10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30"/>
    <p:restoredTop sz="94634"/>
  </p:normalViewPr>
  <p:slideViewPr>
    <p:cSldViewPr snapToGrid="0">
      <p:cViewPr>
        <p:scale>
          <a:sx n="23" d="100"/>
          <a:sy n="23" d="100"/>
        </p:scale>
        <p:origin x="944" y="384"/>
      </p:cViewPr>
      <p:guideLst>
        <p:guide orient="horz" pos="21632"/>
        <p:guide orient="horz" pos="6102"/>
        <p:guide orient="horz" pos="3827"/>
        <p:guide orient="horz" pos="6767"/>
        <p:guide pos="825"/>
        <p:guide pos="7920"/>
        <p:guide pos="8470"/>
        <p:guide pos="15565"/>
        <p:guide pos="16115"/>
        <p:guide pos="23210"/>
        <p:guide pos="23760"/>
        <p:guide pos="3085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5795"/>
        <p:guide pos="10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13804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0025" tIns="225000" rIns="450025" bIns="2250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7941925" y="0"/>
            <a:ext cx="141351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0025" tIns="225000" rIns="450025" bIns="2250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655888" y="3757613"/>
            <a:ext cx="26441400" cy="18748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4137025" y="24004588"/>
            <a:ext cx="23456900" cy="2251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0025" tIns="225000" rIns="450025" bIns="225000" anchor="t" anchorCtr="0">
            <a:noAutofit/>
          </a:bodyPr>
          <a:lstStyle>
            <a:lvl1pPr marL="457200" marR="0" lvl="0" indent="-228600" algn="l" rtl="0">
              <a:spcBef>
                <a:spcPts val="403"/>
              </a:spcBef>
              <a:spcAft>
                <a:spcPts val="0"/>
              </a:spcAft>
              <a:buSzPts val="1400"/>
              <a:buNone/>
              <a:defRPr sz="1343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403"/>
              </a:spcBef>
              <a:spcAft>
                <a:spcPts val="0"/>
              </a:spcAft>
              <a:buSzPts val="1400"/>
              <a:buNone/>
              <a:defRPr sz="1343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403"/>
              </a:spcBef>
              <a:spcAft>
                <a:spcPts val="0"/>
              </a:spcAft>
              <a:buSzPts val="1400"/>
              <a:buNone/>
              <a:defRPr sz="1343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403"/>
              </a:spcBef>
              <a:spcAft>
                <a:spcPts val="0"/>
              </a:spcAft>
              <a:buSzPts val="1400"/>
              <a:buNone/>
              <a:defRPr sz="1343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403"/>
              </a:spcBef>
              <a:spcAft>
                <a:spcPts val="0"/>
              </a:spcAft>
              <a:buSzPts val="1400"/>
              <a:buNone/>
              <a:defRPr sz="1343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4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4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4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4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47639288"/>
            <a:ext cx="13804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0025" tIns="225000" rIns="450025" bIns="2250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0025" tIns="225000" rIns="450025" bIns="2250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6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17941925" y="47639288"/>
            <a:ext cx="141351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0025" tIns="225000" rIns="450025" bIns="2250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6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52725" y="3757613"/>
            <a:ext cx="26247725" cy="18748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4137025" y="24004588"/>
            <a:ext cx="23456900" cy="2251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0025" tIns="225000" rIns="450025" bIns="225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43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3774447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17180555" y="32492028"/>
            <a:ext cx="15930894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36040056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ctrTitle"/>
          </p:nvPr>
        </p:nvSpPr>
        <p:spPr>
          <a:xfrm>
            <a:off x="3772227" y="11078901"/>
            <a:ext cx="42747555" cy="764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7544448" y="20207555"/>
            <a:ext cx="35203104" cy="911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ctr">
              <a:spcBef>
                <a:spcPts val="3035"/>
              </a:spcBef>
              <a:spcAft>
                <a:spcPts val="0"/>
              </a:spcAft>
              <a:buClr>
                <a:schemeClr val="dk1"/>
              </a:buClr>
              <a:buSzPts val="15177"/>
              <a:buFont typeface="Times New Roman"/>
              <a:buNone/>
              <a:defRPr/>
            </a:lvl1pPr>
            <a:lvl2pPr lvl="1" algn="ctr">
              <a:spcBef>
                <a:spcPts val="2669"/>
              </a:spcBef>
              <a:spcAft>
                <a:spcPts val="0"/>
              </a:spcAft>
              <a:buClr>
                <a:schemeClr val="dk1"/>
              </a:buClr>
              <a:buSzPts val="13344"/>
              <a:buFont typeface="Times New Roman"/>
              <a:buNone/>
              <a:defRPr/>
            </a:lvl2pPr>
            <a:lvl3pPr lvl="2" algn="ctr">
              <a:spcBef>
                <a:spcPts val="2282"/>
              </a:spcBef>
              <a:spcAft>
                <a:spcPts val="0"/>
              </a:spcAft>
              <a:buClr>
                <a:schemeClr val="dk1"/>
              </a:buClr>
              <a:buSzPts val="11408"/>
              <a:buFont typeface="Times New Roman"/>
              <a:buNone/>
              <a:defRPr/>
            </a:lvl3pPr>
            <a:lvl4pPr lvl="3" algn="ctr">
              <a:spcBef>
                <a:spcPts val="1894"/>
              </a:spcBef>
              <a:spcAft>
                <a:spcPts val="0"/>
              </a:spcAft>
              <a:buClr>
                <a:schemeClr val="dk1"/>
              </a:buClr>
              <a:buSzPts val="9472"/>
              <a:buFont typeface="Times New Roman"/>
              <a:buNone/>
              <a:defRPr/>
            </a:lvl4pPr>
            <a:lvl5pPr lvl="4" algn="ctr">
              <a:spcBef>
                <a:spcPts val="1894"/>
              </a:spcBef>
              <a:spcAft>
                <a:spcPts val="0"/>
              </a:spcAft>
              <a:buClr>
                <a:schemeClr val="dk1"/>
              </a:buClr>
              <a:buSzPts val="9472"/>
              <a:buFont typeface="Times New Roman"/>
              <a:buNone/>
              <a:defRPr/>
            </a:lvl5pPr>
            <a:lvl6pPr lvl="5" algn="ctr">
              <a:spcBef>
                <a:spcPts val="1894"/>
              </a:spcBef>
              <a:spcAft>
                <a:spcPts val="0"/>
              </a:spcAft>
              <a:buClr>
                <a:schemeClr val="dk1"/>
              </a:buClr>
              <a:buSzPts val="9472"/>
              <a:buFont typeface="Times New Roman"/>
              <a:buNone/>
              <a:defRPr/>
            </a:lvl6pPr>
            <a:lvl7pPr lvl="6" algn="ctr">
              <a:spcBef>
                <a:spcPts val="1894"/>
              </a:spcBef>
              <a:spcAft>
                <a:spcPts val="0"/>
              </a:spcAft>
              <a:buClr>
                <a:schemeClr val="dk1"/>
              </a:buClr>
              <a:buSzPts val="9472"/>
              <a:buFont typeface="Times New Roman"/>
              <a:buNone/>
              <a:defRPr/>
            </a:lvl7pPr>
            <a:lvl8pPr lvl="7" algn="ctr">
              <a:spcBef>
                <a:spcPts val="1894"/>
              </a:spcBef>
              <a:spcAft>
                <a:spcPts val="0"/>
              </a:spcAft>
              <a:buClr>
                <a:schemeClr val="dk1"/>
              </a:buClr>
              <a:buSzPts val="9472"/>
              <a:buFont typeface="Times New Roman"/>
              <a:buNone/>
              <a:defRPr/>
            </a:lvl8pPr>
            <a:lvl9pPr lvl="8" algn="ctr">
              <a:spcBef>
                <a:spcPts val="1894"/>
              </a:spcBef>
              <a:spcAft>
                <a:spcPts val="0"/>
              </a:spcAft>
              <a:buClr>
                <a:schemeClr val="dk1"/>
              </a:buClr>
              <a:buSzPts val="9472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3774447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17180555" y="32492028"/>
            <a:ext cx="15930894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36040056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774449" y="3169577"/>
            <a:ext cx="42743106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3774449" y="10301553"/>
            <a:ext cx="42743106" cy="21397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3774447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17180555" y="32492028"/>
            <a:ext cx="15930894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36040056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3972720" y="22916228"/>
            <a:ext cx="42747555" cy="708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75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3972720" y="15115251"/>
            <a:ext cx="42747555" cy="780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b" anchorCtr="0">
            <a:noAutofit/>
          </a:bodyPr>
          <a:lstStyle>
            <a:lvl1pPr marL="457200" lvl="0" indent="-22860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037"/>
              <a:buFont typeface="Times New Roman"/>
              <a:buNone/>
              <a:defRPr sz="2037"/>
            </a:lvl1pPr>
            <a:lvl2pPr marL="914400" lvl="1" indent="-2286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None/>
              <a:defRPr sz="1833"/>
            </a:lvl2pPr>
            <a:lvl3pPr marL="1371600" lvl="2" indent="-228600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None/>
              <a:defRPr sz="1630"/>
            </a:lvl3pPr>
            <a:lvl4pPr marL="1828800" lvl="3" indent="-228600" algn="l"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1425"/>
              <a:buFont typeface="Times New Roman"/>
              <a:buNone/>
              <a:defRPr sz="1425"/>
            </a:lvl4pPr>
            <a:lvl5pPr marL="2286000" lvl="4" indent="-228600" algn="l"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1425"/>
              <a:buFont typeface="Times New Roman"/>
              <a:buNone/>
              <a:defRPr sz="1425"/>
            </a:lvl5pPr>
            <a:lvl6pPr marL="2743200" lvl="5" indent="-228600" algn="l"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1425"/>
              <a:buFont typeface="Times New Roman"/>
              <a:buNone/>
              <a:defRPr sz="1425"/>
            </a:lvl6pPr>
            <a:lvl7pPr marL="3200400" lvl="6" indent="-228600" algn="l"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1425"/>
              <a:buFont typeface="Times New Roman"/>
              <a:buNone/>
              <a:defRPr sz="1425"/>
            </a:lvl7pPr>
            <a:lvl8pPr marL="3657600" lvl="7" indent="-228600" algn="l"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1425"/>
              <a:buFont typeface="Times New Roman"/>
              <a:buNone/>
              <a:defRPr sz="1425"/>
            </a:lvl8pPr>
            <a:lvl9pPr marL="4114800" lvl="8" indent="-228600" algn="l"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1425"/>
              <a:buFont typeface="Times New Roman"/>
              <a:buNone/>
              <a:defRPr sz="1425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3774447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17180555" y="32492028"/>
            <a:ext cx="15930894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36040056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3774449" y="3169577"/>
            <a:ext cx="42743106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3773842" y="10301554"/>
            <a:ext cx="21294546" cy="21397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457200" lvl="0" indent="-409702" algn="l">
              <a:spcBef>
                <a:spcPts val="570"/>
              </a:spcBef>
              <a:spcAft>
                <a:spcPts val="0"/>
              </a:spcAft>
              <a:buClr>
                <a:schemeClr val="dk1"/>
              </a:buClr>
              <a:buSzPts val="2852"/>
              <a:buFont typeface="Times New Roman"/>
              <a:buChar char="•"/>
              <a:defRPr sz="2852"/>
            </a:lvl1pPr>
            <a:lvl2pPr marL="914400" lvl="1" indent="-383794" algn="l">
              <a:spcBef>
                <a:spcPts val="489"/>
              </a:spcBef>
              <a:spcAft>
                <a:spcPts val="0"/>
              </a:spcAft>
              <a:buClr>
                <a:schemeClr val="dk1"/>
              </a:buClr>
              <a:buSzPts val="2444"/>
              <a:buFont typeface="Times New Roman"/>
              <a:buChar char="–"/>
              <a:defRPr sz="2444"/>
            </a:lvl2pPr>
            <a:lvl3pPr marL="1371600" lvl="2" indent="-357949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037"/>
              <a:buFont typeface="Times New Roman"/>
              <a:buChar char="•"/>
              <a:defRPr sz="2037"/>
            </a:lvl3pPr>
            <a:lvl4pPr marL="1828800" lvl="3" indent="-344996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Char char="–"/>
              <a:defRPr sz="1833"/>
            </a:lvl4pPr>
            <a:lvl5pPr marL="2286000" lvl="4" indent="-344995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Char char="»"/>
              <a:defRPr sz="1833"/>
            </a:lvl5pPr>
            <a:lvl6pPr marL="2743200" lvl="5" indent="-344995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Char char="»"/>
              <a:defRPr sz="1833"/>
            </a:lvl6pPr>
            <a:lvl7pPr marL="3200400" lvl="6" indent="-344995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Char char="»"/>
              <a:defRPr sz="1833"/>
            </a:lvl7pPr>
            <a:lvl8pPr marL="3657600" lvl="7" indent="-344996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Char char="»"/>
              <a:defRPr sz="1833"/>
            </a:lvl8pPr>
            <a:lvl9pPr marL="4114800" lvl="8" indent="-344996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Char char="»"/>
              <a:defRPr sz="1833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25223614" y="10301554"/>
            <a:ext cx="21294546" cy="21397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457200" lvl="0" indent="-409702" algn="l">
              <a:spcBef>
                <a:spcPts val="570"/>
              </a:spcBef>
              <a:spcAft>
                <a:spcPts val="0"/>
              </a:spcAft>
              <a:buClr>
                <a:schemeClr val="dk1"/>
              </a:buClr>
              <a:buSzPts val="2852"/>
              <a:buFont typeface="Times New Roman"/>
              <a:buChar char="•"/>
              <a:defRPr sz="2852"/>
            </a:lvl1pPr>
            <a:lvl2pPr marL="914400" lvl="1" indent="-383794" algn="l">
              <a:spcBef>
                <a:spcPts val="489"/>
              </a:spcBef>
              <a:spcAft>
                <a:spcPts val="0"/>
              </a:spcAft>
              <a:buClr>
                <a:schemeClr val="dk1"/>
              </a:buClr>
              <a:buSzPts val="2444"/>
              <a:buFont typeface="Times New Roman"/>
              <a:buChar char="–"/>
              <a:defRPr sz="2444"/>
            </a:lvl2pPr>
            <a:lvl3pPr marL="1371600" lvl="2" indent="-357949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037"/>
              <a:buFont typeface="Times New Roman"/>
              <a:buChar char="•"/>
              <a:defRPr sz="2037"/>
            </a:lvl3pPr>
            <a:lvl4pPr marL="1828800" lvl="3" indent="-344996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Char char="–"/>
              <a:defRPr sz="1833"/>
            </a:lvl4pPr>
            <a:lvl5pPr marL="2286000" lvl="4" indent="-344995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Char char="»"/>
              <a:defRPr sz="1833"/>
            </a:lvl5pPr>
            <a:lvl6pPr marL="2743200" lvl="5" indent="-344995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Char char="»"/>
              <a:defRPr sz="1833"/>
            </a:lvl6pPr>
            <a:lvl7pPr marL="3200400" lvl="6" indent="-344995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Char char="»"/>
              <a:defRPr sz="1833"/>
            </a:lvl7pPr>
            <a:lvl8pPr marL="3657600" lvl="7" indent="-344996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Char char="»"/>
              <a:defRPr sz="1833"/>
            </a:lvl8pPr>
            <a:lvl9pPr marL="4114800" lvl="8" indent="-344996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Char char="»"/>
              <a:defRPr sz="1833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3774447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ftr" idx="11"/>
          </p:nvPr>
        </p:nvSpPr>
        <p:spPr>
          <a:xfrm>
            <a:off x="17180555" y="32492028"/>
            <a:ext cx="15930894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36040056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2514279" y="1427428"/>
            <a:ext cx="45263445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2514280" y="7983276"/>
            <a:ext cx="22221031" cy="3326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b" anchorCtr="0">
            <a:noAutofit/>
          </a:bodyPr>
          <a:lstStyle>
            <a:lvl1pPr marL="457200" lvl="0" indent="-228600" algn="l">
              <a:spcBef>
                <a:spcPts val="489"/>
              </a:spcBef>
              <a:spcAft>
                <a:spcPts val="0"/>
              </a:spcAft>
              <a:buClr>
                <a:schemeClr val="dk1"/>
              </a:buClr>
              <a:buSzPts val="2444"/>
              <a:buFont typeface="Times New Roman"/>
              <a:buNone/>
              <a:defRPr sz="2444" b="1"/>
            </a:lvl1pPr>
            <a:lvl2pPr marL="914400" lvl="1" indent="-22860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037"/>
              <a:buFont typeface="Times New Roman"/>
              <a:buNone/>
              <a:defRPr sz="2037" b="1"/>
            </a:lvl2pPr>
            <a:lvl3pPr marL="1371600" lvl="2" indent="-2286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None/>
              <a:defRPr sz="1833" b="1"/>
            </a:lvl3pPr>
            <a:lvl4pPr marL="1828800" lvl="3" indent="-228600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None/>
              <a:defRPr sz="1630" b="1"/>
            </a:lvl4pPr>
            <a:lvl5pPr marL="2286000" lvl="4" indent="-228600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None/>
              <a:defRPr sz="1630" b="1"/>
            </a:lvl5pPr>
            <a:lvl6pPr marL="2743200" lvl="5" indent="-228600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None/>
              <a:defRPr sz="1630" b="1"/>
            </a:lvl6pPr>
            <a:lvl7pPr marL="3200400" lvl="6" indent="-228600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None/>
              <a:defRPr sz="1630" b="1"/>
            </a:lvl7pPr>
            <a:lvl8pPr marL="3657600" lvl="7" indent="-228600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None/>
              <a:defRPr sz="1630" b="1"/>
            </a:lvl8pPr>
            <a:lvl9pPr marL="4114800" lvl="8" indent="-228600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None/>
              <a:defRPr sz="1630" b="1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2"/>
          </p:nvPr>
        </p:nvSpPr>
        <p:spPr>
          <a:xfrm>
            <a:off x="2514280" y="11309350"/>
            <a:ext cx="22221031" cy="20546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457200" lvl="0" indent="-383794" algn="l">
              <a:spcBef>
                <a:spcPts val="489"/>
              </a:spcBef>
              <a:spcAft>
                <a:spcPts val="0"/>
              </a:spcAft>
              <a:buClr>
                <a:schemeClr val="dk1"/>
              </a:buClr>
              <a:buSzPts val="2444"/>
              <a:buFont typeface="Times New Roman"/>
              <a:buChar char="•"/>
              <a:defRPr sz="2444"/>
            </a:lvl1pPr>
            <a:lvl2pPr marL="914400" lvl="1" indent="-35795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037"/>
              <a:buFont typeface="Times New Roman"/>
              <a:buChar char="–"/>
              <a:defRPr sz="2037"/>
            </a:lvl2pPr>
            <a:lvl3pPr marL="1371600" lvl="2" indent="-344996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Char char="•"/>
              <a:defRPr sz="1833"/>
            </a:lvl3pPr>
            <a:lvl4pPr marL="1828800" lvl="3" indent="-332105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Char char="–"/>
              <a:defRPr sz="1630"/>
            </a:lvl4pPr>
            <a:lvl5pPr marL="2286000" lvl="4" indent="-332105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Char char="»"/>
              <a:defRPr sz="1630"/>
            </a:lvl5pPr>
            <a:lvl6pPr marL="2743200" lvl="5" indent="-332105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Char char="»"/>
              <a:defRPr sz="1630"/>
            </a:lvl6pPr>
            <a:lvl7pPr marL="3200400" lvl="6" indent="-332105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Char char="»"/>
              <a:defRPr sz="1630"/>
            </a:lvl7pPr>
            <a:lvl8pPr marL="3657600" lvl="7" indent="-332105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Char char="»"/>
              <a:defRPr sz="1630"/>
            </a:lvl8pPr>
            <a:lvl9pPr marL="4114800" lvl="8" indent="-332105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Char char="»"/>
              <a:defRPr sz="163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3"/>
          </p:nvPr>
        </p:nvSpPr>
        <p:spPr>
          <a:xfrm>
            <a:off x="25546990" y="7983276"/>
            <a:ext cx="22230736" cy="3326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b" anchorCtr="0">
            <a:noAutofit/>
          </a:bodyPr>
          <a:lstStyle>
            <a:lvl1pPr marL="457200" lvl="0" indent="-228600" algn="l">
              <a:spcBef>
                <a:spcPts val="489"/>
              </a:spcBef>
              <a:spcAft>
                <a:spcPts val="0"/>
              </a:spcAft>
              <a:buClr>
                <a:schemeClr val="dk1"/>
              </a:buClr>
              <a:buSzPts val="2444"/>
              <a:buFont typeface="Times New Roman"/>
              <a:buNone/>
              <a:defRPr sz="2444" b="1"/>
            </a:lvl1pPr>
            <a:lvl2pPr marL="914400" lvl="1" indent="-22860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037"/>
              <a:buFont typeface="Times New Roman"/>
              <a:buNone/>
              <a:defRPr sz="2037" b="1"/>
            </a:lvl2pPr>
            <a:lvl3pPr marL="1371600" lvl="2" indent="-228600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None/>
              <a:defRPr sz="1833" b="1"/>
            </a:lvl3pPr>
            <a:lvl4pPr marL="1828800" lvl="3" indent="-228600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None/>
              <a:defRPr sz="1630" b="1"/>
            </a:lvl4pPr>
            <a:lvl5pPr marL="2286000" lvl="4" indent="-228600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None/>
              <a:defRPr sz="1630" b="1"/>
            </a:lvl5pPr>
            <a:lvl6pPr marL="2743200" lvl="5" indent="-228600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None/>
              <a:defRPr sz="1630" b="1"/>
            </a:lvl6pPr>
            <a:lvl7pPr marL="3200400" lvl="6" indent="-228600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None/>
              <a:defRPr sz="1630" b="1"/>
            </a:lvl7pPr>
            <a:lvl8pPr marL="3657600" lvl="7" indent="-228600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None/>
              <a:defRPr sz="1630" b="1"/>
            </a:lvl8pPr>
            <a:lvl9pPr marL="4114800" lvl="8" indent="-228600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None/>
              <a:defRPr sz="1630" b="1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4"/>
          </p:nvPr>
        </p:nvSpPr>
        <p:spPr>
          <a:xfrm>
            <a:off x="25546990" y="11309350"/>
            <a:ext cx="22230736" cy="20546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457200" lvl="0" indent="-383794" algn="l">
              <a:spcBef>
                <a:spcPts val="489"/>
              </a:spcBef>
              <a:spcAft>
                <a:spcPts val="0"/>
              </a:spcAft>
              <a:buClr>
                <a:schemeClr val="dk1"/>
              </a:buClr>
              <a:buSzPts val="2444"/>
              <a:buFont typeface="Times New Roman"/>
              <a:buChar char="•"/>
              <a:defRPr sz="2444"/>
            </a:lvl1pPr>
            <a:lvl2pPr marL="914400" lvl="1" indent="-35795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037"/>
              <a:buFont typeface="Times New Roman"/>
              <a:buChar char="–"/>
              <a:defRPr sz="2037"/>
            </a:lvl2pPr>
            <a:lvl3pPr marL="1371600" lvl="2" indent="-344996" algn="l">
              <a:spcBef>
                <a:spcPts val="367"/>
              </a:spcBef>
              <a:spcAft>
                <a:spcPts val="0"/>
              </a:spcAft>
              <a:buClr>
                <a:schemeClr val="dk1"/>
              </a:buClr>
              <a:buSzPts val="1833"/>
              <a:buFont typeface="Times New Roman"/>
              <a:buChar char="•"/>
              <a:defRPr sz="1833"/>
            </a:lvl3pPr>
            <a:lvl4pPr marL="1828800" lvl="3" indent="-332105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Char char="–"/>
              <a:defRPr sz="1630"/>
            </a:lvl4pPr>
            <a:lvl5pPr marL="2286000" lvl="4" indent="-332105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Char char="»"/>
              <a:defRPr sz="1630"/>
            </a:lvl5pPr>
            <a:lvl6pPr marL="2743200" lvl="5" indent="-332105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Char char="»"/>
              <a:defRPr sz="1630"/>
            </a:lvl6pPr>
            <a:lvl7pPr marL="3200400" lvl="6" indent="-332105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Char char="»"/>
              <a:defRPr sz="1630"/>
            </a:lvl7pPr>
            <a:lvl8pPr marL="3657600" lvl="7" indent="-332105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Char char="»"/>
              <a:defRPr sz="1630"/>
            </a:lvl8pPr>
            <a:lvl9pPr marL="4114800" lvl="8" indent="-332105" algn="l">
              <a:spcBef>
                <a:spcPts val="326"/>
              </a:spcBef>
              <a:spcAft>
                <a:spcPts val="0"/>
              </a:spcAft>
              <a:buClr>
                <a:schemeClr val="dk1"/>
              </a:buClr>
              <a:buSzPts val="1630"/>
              <a:buFont typeface="Times New Roman"/>
              <a:buChar char="»"/>
              <a:defRPr sz="163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3774447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17180555" y="32492028"/>
            <a:ext cx="15930894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36040056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3774449" y="3169577"/>
            <a:ext cx="42743106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dt" idx="10"/>
          </p:nvPr>
        </p:nvSpPr>
        <p:spPr>
          <a:xfrm>
            <a:off x="3774447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ftr" idx="11"/>
          </p:nvPr>
        </p:nvSpPr>
        <p:spPr>
          <a:xfrm>
            <a:off x="17180555" y="32492028"/>
            <a:ext cx="15930894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36040056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2514280" y="1420552"/>
            <a:ext cx="16545719" cy="6041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37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19663099" y="1420552"/>
            <a:ext cx="28114625" cy="30435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457200" lvl="0" indent="-435547" algn="l">
              <a:spcBef>
                <a:spcPts val="652"/>
              </a:spcBef>
              <a:spcAft>
                <a:spcPts val="0"/>
              </a:spcAft>
              <a:buClr>
                <a:schemeClr val="dk1"/>
              </a:buClr>
              <a:buSzPts val="3259"/>
              <a:buFont typeface="Times New Roman"/>
              <a:buChar char="•"/>
              <a:defRPr sz="3259"/>
            </a:lvl1pPr>
            <a:lvl2pPr marL="914400" lvl="1" indent="-409702" algn="l">
              <a:spcBef>
                <a:spcPts val="570"/>
              </a:spcBef>
              <a:spcAft>
                <a:spcPts val="0"/>
              </a:spcAft>
              <a:buClr>
                <a:schemeClr val="dk1"/>
              </a:buClr>
              <a:buSzPts val="2852"/>
              <a:buFont typeface="Times New Roman"/>
              <a:buChar char="–"/>
              <a:defRPr sz="2852"/>
            </a:lvl2pPr>
            <a:lvl3pPr marL="1371600" lvl="2" indent="-383794" algn="l">
              <a:spcBef>
                <a:spcPts val="489"/>
              </a:spcBef>
              <a:spcAft>
                <a:spcPts val="0"/>
              </a:spcAft>
              <a:buClr>
                <a:schemeClr val="dk1"/>
              </a:buClr>
              <a:buSzPts val="2444"/>
              <a:buFont typeface="Times New Roman"/>
              <a:buChar char="•"/>
              <a:defRPr sz="2444"/>
            </a:lvl3pPr>
            <a:lvl4pPr marL="1828800" lvl="3" indent="-357949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037"/>
              <a:buFont typeface="Times New Roman"/>
              <a:buChar char="–"/>
              <a:defRPr sz="2037"/>
            </a:lvl4pPr>
            <a:lvl5pPr marL="2286000" lvl="4" indent="-357949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037"/>
              <a:buFont typeface="Times New Roman"/>
              <a:buChar char="»"/>
              <a:defRPr sz="2037"/>
            </a:lvl5pPr>
            <a:lvl6pPr marL="2743200" lvl="5" indent="-357949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037"/>
              <a:buFont typeface="Times New Roman"/>
              <a:buChar char="»"/>
              <a:defRPr sz="2037"/>
            </a:lvl6pPr>
            <a:lvl7pPr marL="3200400" lvl="6" indent="-357949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037"/>
              <a:buFont typeface="Times New Roman"/>
              <a:buChar char="»"/>
              <a:defRPr sz="2037"/>
            </a:lvl7pPr>
            <a:lvl8pPr marL="3657600" lvl="7" indent="-357949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037"/>
              <a:buFont typeface="Times New Roman"/>
              <a:buChar char="»"/>
              <a:defRPr sz="2037"/>
            </a:lvl8pPr>
            <a:lvl9pPr marL="4114800" lvl="8" indent="-357949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ts val="2037"/>
              <a:buFont typeface="Times New Roman"/>
              <a:buChar char="»"/>
              <a:defRPr sz="2037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2"/>
          </p:nvPr>
        </p:nvSpPr>
        <p:spPr>
          <a:xfrm>
            <a:off x="2514280" y="7462177"/>
            <a:ext cx="16545719" cy="24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457200" lvl="0" indent="-228600" algn="l"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1425"/>
              <a:buFont typeface="Times New Roman"/>
              <a:buNone/>
              <a:defRPr sz="1425"/>
            </a:lvl1pPr>
            <a:lvl2pPr marL="914400" lvl="1" indent="-228600" algn="l"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22"/>
              <a:buFont typeface="Times New Roman"/>
              <a:buNone/>
              <a:defRPr sz="1222"/>
            </a:lvl2pPr>
            <a:lvl3pPr marL="1371600" lvl="2" indent="-228600" algn="l">
              <a:spcBef>
                <a:spcPts val="204"/>
              </a:spcBef>
              <a:spcAft>
                <a:spcPts val="0"/>
              </a:spcAft>
              <a:buClr>
                <a:schemeClr val="dk1"/>
              </a:buClr>
              <a:buSzPts val="1019"/>
              <a:buFont typeface="Times New Roman"/>
              <a:buNone/>
              <a:defRPr sz="1019"/>
            </a:lvl3pPr>
            <a:lvl4pPr marL="1828800" lvl="3" indent="-228600" algn="l">
              <a:spcBef>
                <a:spcPts val="183"/>
              </a:spcBef>
              <a:spcAft>
                <a:spcPts val="0"/>
              </a:spcAft>
              <a:buClr>
                <a:schemeClr val="dk1"/>
              </a:buClr>
              <a:buSzPts val="917"/>
              <a:buFont typeface="Times New Roman"/>
              <a:buNone/>
              <a:defRPr sz="917"/>
            </a:lvl4pPr>
            <a:lvl5pPr marL="2286000" lvl="4" indent="-228600" algn="l">
              <a:spcBef>
                <a:spcPts val="183"/>
              </a:spcBef>
              <a:spcAft>
                <a:spcPts val="0"/>
              </a:spcAft>
              <a:buClr>
                <a:schemeClr val="dk1"/>
              </a:buClr>
              <a:buSzPts val="917"/>
              <a:buFont typeface="Times New Roman"/>
              <a:buNone/>
              <a:defRPr sz="917"/>
            </a:lvl5pPr>
            <a:lvl6pPr marL="2743200" lvl="5" indent="-228600" algn="l">
              <a:spcBef>
                <a:spcPts val="183"/>
              </a:spcBef>
              <a:spcAft>
                <a:spcPts val="0"/>
              </a:spcAft>
              <a:buClr>
                <a:schemeClr val="dk1"/>
              </a:buClr>
              <a:buSzPts val="917"/>
              <a:buFont typeface="Times New Roman"/>
              <a:buNone/>
              <a:defRPr sz="917"/>
            </a:lvl6pPr>
            <a:lvl7pPr marL="3200400" lvl="6" indent="-228600" algn="l">
              <a:spcBef>
                <a:spcPts val="183"/>
              </a:spcBef>
              <a:spcAft>
                <a:spcPts val="0"/>
              </a:spcAft>
              <a:buClr>
                <a:schemeClr val="dk1"/>
              </a:buClr>
              <a:buSzPts val="917"/>
              <a:buFont typeface="Times New Roman"/>
              <a:buNone/>
              <a:defRPr sz="917"/>
            </a:lvl7pPr>
            <a:lvl8pPr marL="3657600" lvl="7" indent="-228600" algn="l">
              <a:spcBef>
                <a:spcPts val="183"/>
              </a:spcBef>
              <a:spcAft>
                <a:spcPts val="0"/>
              </a:spcAft>
              <a:buClr>
                <a:schemeClr val="dk1"/>
              </a:buClr>
              <a:buSzPts val="917"/>
              <a:buFont typeface="Times New Roman"/>
              <a:buNone/>
              <a:defRPr sz="917"/>
            </a:lvl8pPr>
            <a:lvl9pPr marL="4114800" lvl="8" indent="-228600" algn="l">
              <a:spcBef>
                <a:spcPts val="183"/>
              </a:spcBef>
              <a:spcAft>
                <a:spcPts val="0"/>
              </a:spcAft>
              <a:buClr>
                <a:schemeClr val="dk1"/>
              </a:buClr>
              <a:buSzPts val="917"/>
              <a:buFont typeface="Times New Roman"/>
              <a:buNone/>
              <a:defRPr sz="917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3774447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17180555" y="32492028"/>
            <a:ext cx="15930894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36040056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9858229" y="24962781"/>
            <a:ext cx="30174555" cy="294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37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>
            <a:spLocks noGrp="1"/>
          </p:cNvSpPr>
          <p:nvPr>
            <p:ph type="pic" idx="2"/>
          </p:nvPr>
        </p:nvSpPr>
        <p:spPr>
          <a:xfrm>
            <a:off x="9858229" y="3186775"/>
            <a:ext cx="30174555" cy="21395928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9858229" y="27910504"/>
            <a:ext cx="30174555" cy="4184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457200" lvl="0" indent="-228600" algn="l"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1425"/>
              <a:buFont typeface="Times New Roman"/>
              <a:buNone/>
              <a:defRPr sz="1425"/>
            </a:lvl1pPr>
            <a:lvl2pPr marL="914400" lvl="1" indent="-228600" algn="l">
              <a:spcBef>
                <a:spcPts val="244"/>
              </a:spcBef>
              <a:spcAft>
                <a:spcPts val="0"/>
              </a:spcAft>
              <a:buClr>
                <a:schemeClr val="dk1"/>
              </a:buClr>
              <a:buSzPts val="1222"/>
              <a:buFont typeface="Times New Roman"/>
              <a:buNone/>
              <a:defRPr sz="1222"/>
            </a:lvl2pPr>
            <a:lvl3pPr marL="1371600" lvl="2" indent="-228600" algn="l">
              <a:spcBef>
                <a:spcPts val="204"/>
              </a:spcBef>
              <a:spcAft>
                <a:spcPts val="0"/>
              </a:spcAft>
              <a:buClr>
                <a:schemeClr val="dk1"/>
              </a:buClr>
              <a:buSzPts val="1019"/>
              <a:buFont typeface="Times New Roman"/>
              <a:buNone/>
              <a:defRPr sz="1019"/>
            </a:lvl3pPr>
            <a:lvl4pPr marL="1828800" lvl="3" indent="-228600" algn="l">
              <a:spcBef>
                <a:spcPts val="183"/>
              </a:spcBef>
              <a:spcAft>
                <a:spcPts val="0"/>
              </a:spcAft>
              <a:buClr>
                <a:schemeClr val="dk1"/>
              </a:buClr>
              <a:buSzPts val="917"/>
              <a:buFont typeface="Times New Roman"/>
              <a:buNone/>
              <a:defRPr sz="917"/>
            </a:lvl4pPr>
            <a:lvl5pPr marL="2286000" lvl="4" indent="-228600" algn="l">
              <a:spcBef>
                <a:spcPts val="183"/>
              </a:spcBef>
              <a:spcAft>
                <a:spcPts val="0"/>
              </a:spcAft>
              <a:buClr>
                <a:schemeClr val="dk1"/>
              </a:buClr>
              <a:buSzPts val="917"/>
              <a:buFont typeface="Times New Roman"/>
              <a:buNone/>
              <a:defRPr sz="917"/>
            </a:lvl5pPr>
            <a:lvl6pPr marL="2743200" lvl="5" indent="-228600" algn="l">
              <a:spcBef>
                <a:spcPts val="183"/>
              </a:spcBef>
              <a:spcAft>
                <a:spcPts val="0"/>
              </a:spcAft>
              <a:buClr>
                <a:schemeClr val="dk1"/>
              </a:buClr>
              <a:buSzPts val="917"/>
              <a:buFont typeface="Times New Roman"/>
              <a:buNone/>
              <a:defRPr sz="917"/>
            </a:lvl6pPr>
            <a:lvl7pPr marL="3200400" lvl="6" indent="-228600" algn="l">
              <a:spcBef>
                <a:spcPts val="183"/>
              </a:spcBef>
              <a:spcAft>
                <a:spcPts val="0"/>
              </a:spcAft>
              <a:buClr>
                <a:schemeClr val="dk1"/>
              </a:buClr>
              <a:buSzPts val="917"/>
              <a:buFont typeface="Times New Roman"/>
              <a:buNone/>
              <a:defRPr sz="917"/>
            </a:lvl7pPr>
            <a:lvl8pPr marL="3657600" lvl="7" indent="-228600" algn="l">
              <a:spcBef>
                <a:spcPts val="183"/>
              </a:spcBef>
              <a:spcAft>
                <a:spcPts val="0"/>
              </a:spcAft>
              <a:buClr>
                <a:schemeClr val="dk1"/>
              </a:buClr>
              <a:buSzPts val="917"/>
              <a:buFont typeface="Times New Roman"/>
              <a:buNone/>
              <a:defRPr sz="917"/>
            </a:lvl8pPr>
            <a:lvl9pPr marL="4114800" lvl="8" indent="-228600" algn="l">
              <a:spcBef>
                <a:spcPts val="183"/>
              </a:spcBef>
              <a:spcAft>
                <a:spcPts val="0"/>
              </a:spcAft>
              <a:buClr>
                <a:schemeClr val="dk1"/>
              </a:buClr>
              <a:buSzPts val="917"/>
              <a:buFont typeface="Times New Roman"/>
              <a:buNone/>
              <a:defRPr sz="917"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dt" idx="10"/>
          </p:nvPr>
        </p:nvSpPr>
        <p:spPr>
          <a:xfrm>
            <a:off x="3774447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ftr" idx="11"/>
          </p:nvPr>
        </p:nvSpPr>
        <p:spPr>
          <a:xfrm>
            <a:off x="17180555" y="32492028"/>
            <a:ext cx="15930894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ldNum" idx="12"/>
          </p:nvPr>
        </p:nvSpPr>
        <p:spPr>
          <a:xfrm>
            <a:off x="36040056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3774449" y="3169577"/>
            <a:ext cx="42743106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 rot="5400000">
            <a:off x="14447179" y="-371177"/>
            <a:ext cx="21397646" cy="42743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3774447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17180555" y="32492028"/>
            <a:ext cx="15930894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36040056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 rot="5400000">
            <a:off x="26910312" y="12091353"/>
            <a:ext cx="28529626" cy="1068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body" idx="1"/>
          </p:nvPr>
        </p:nvSpPr>
        <p:spPr>
          <a:xfrm rot="5400000">
            <a:off x="5460541" y="1482883"/>
            <a:ext cx="28529626" cy="3190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dt" idx="10"/>
          </p:nvPr>
        </p:nvSpPr>
        <p:spPr>
          <a:xfrm>
            <a:off x="3774447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ftr" idx="11"/>
          </p:nvPr>
        </p:nvSpPr>
        <p:spPr>
          <a:xfrm>
            <a:off x="17180555" y="32492028"/>
            <a:ext cx="15930894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sldNum" idx="12"/>
          </p:nvPr>
        </p:nvSpPr>
        <p:spPr>
          <a:xfrm>
            <a:off x="36040056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0094B3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774449" y="3169577"/>
            <a:ext cx="42743106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8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8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8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8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8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8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8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8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88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774449" y="10301553"/>
            <a:ext cx="42743106" cy="21397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457200" marR="0" lvl="0" indent="-1192340" algn="l" rtl="0">
              <a:spcBef>
                <a:spcPts val="3035"/>
              </a:spcBef>
              <a:spcAft>
                <a:spcPts val="0"/>
              </a:spcAft>
              <a:buClr>
                <a:schemeClr val="dk1"/>
              </a:buClr>
              <a:buSzPts val="15177"/>
              <a:buFont typeface="Times New Roman"/>
              <a:buChar char="•"/>
              <a:defRPr sz="15177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1075944" algn="l" rtl="0">
              <a:spcBef>
                <a:spcPts val="2669"/>
              </a:spcBef>
              <a:spcAft>
                <a:spcPts val="0"/>
              </a:spcAft>
              <a:buClr>
                <a:schemeClr val="dk1"/>
              </a:buClr>
              <a:buSzPts val="13344"/>
              <a:buFont typeface="Times New Roman"/>
              <a:buChar char="–"/>
              <a:defRPr sz="13344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953008" algn="l" rtl="0">
              <a:spcBef>
                <a:spcPts val="2282"/>
              </a:spcBef>
              <a:spcAft>
                <a:spcPts val="0"/>
              </a:spcAft>
              <a:buClr>
                <a:schemeClr val="dk1"/>
              </a:buClr>
              <a:buSzPts val="11408"/>
              <a:buFont typeface="Times New Roman"/>
              <a:buChar char="•"/>
              <a:defRPr sz="11408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830072" algn="l" rtl="0">
              <a:spcBef>
                <a:spcPts val="1894"/>
              </a:spcBef>
              <a:spcAft>
                <a:spcPts val="0"/>
              </a:spcAft>
              <a:buClr>
                <a:schemeClr val="dk1"/>
              </a:buClr>
              <a:buSzPts val="9472"/>
              <a:buFont typeface="Times New Roman"/>
              <a:buChar char="–"/>
              <a:defRPr sz="9472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830072" algn="l" rtl="0">
              <a:spcBef>
                <a:spcPts val="1894"/>
              </a:spcBef>
              <a:spcAft>
                <a:spcPts val="0"/>
              </a:spcAft>
              <a:buClr>
                <a:schemeClr val="dk1"/>
              </a:buClr>
              <a:buSzPts val="9472"/>
              <a:buFont typeface="Times New Roman"/>
              <a:buChar char="»"/>
              <a:defRPr sz="9472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830072" algn="l" rtl="0">
              <a:spcBef>
                <a:spcPts val="1894"/>
              </a:spcBef>
              <a:spcAft>
                <a:spcPts val="0"/>
              </a:spcAft>
              <a:buClr>
                <a:schemeClr val="dk1"/>
              </a:buClr>
              <a:buSzPts val="9472"/>
              <a:buFont typeface="Times New Roman"/>
              <a:buChar char="»"/>
              <a:defRPr sz="9472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830072" algn="l" rtl="0">
              <a:spcBef>
                <a:spcPts val="1894"/>
              </a:spcBef>
              <a:spcAft>
                <a:spcPts val="0"/>
              </a:spcAft>
              <a:buClr>
                <a:schemeClr val="dk1"/>
              </a:buClr>
              <a:buSzPts val="9472"/>
              <a:buFont typeface="Times New Roman"/>
              <a:buChar char="»"/>
              <a:defRPr sz="9472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830072" algn="l" rtl="0">
              <a:spcBef>
                <a:spcPts val="1894"/>
              </a:spcBef>
              <a:spcAft>
                <a:spcPts val="0"/>
              </a:spcAft>
              <a:buClr>
                <a:schemeClr val="dk1"/>
              </a:buClr>
              <a:buSzPts val="9472"/>
              <a:buFont typeface="Times New Roman"/>
              <a:buChar char="»"/>
              <a:defRPr sz="9472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830072" algn="l" rtl="0">
              <a:spcBef>
                <a:spcPts val="1894"/>
              </a:spcBef>
              <a:spcAft>
                <a:spcPts val="0"/>
              </a:spcAft>
              <a:buClr>
                <a:schemeClr val="dk1"/>
              </a:buClr>
              <a:buSzPts val="9472"/>
              <a:buFont typeface="Times New Roman"/>
              <a:buChar char="»"/>
              <a:defRPr sz="9472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3774447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17180555" y="32492028"/>
            <a:ext cx="15930894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68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36040056" y="32492028"/>
            <a:ext cx="10477500" cy="2376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700" tIns="213350" rIns="426700" bIns="21335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6621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-5400000">
            <a:off x="-17613136" y="18022182"/>
            <a:ext cx="23196550" cy="6014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 rot="5400000">
            <a:off x="44708586" y="18022182"/>
            <a:ext cx="23196550" cy="6014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231321" y="36487100"/>
            <a:ext cx="45829361" cy="235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2231319" y="37415788"/>
            <a:ext cx="25146000" cy="206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67" b="0" i="0" u="none" strike="noStrike" cap="none">
                <a:solidFill>
                  <a:srgbClr val="808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 ID: persuadingsapphire  Size: 36x24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1482A5"/>
            </a:gs>
          </a:gsLst>
          <a:lin ang="5400000" scaled="0"/>
        </a:gra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 descr="uchica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00" y="809061"/>
            <a:ext cx="1940296" cy="2446460"/>
          </a:xfrm>
          <a:prstGeom prst="rect">
            <a:avLst/>
          </a:prstGeom>
        </p:spPr>
      </p:pic>
      <p:pic>
        <p:nvPicPr>
          <p:cNvPr id="94" name="Picture 93" descr="threed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894" y="857992"/>
            <a:ext cx="5094251" cy="2517679"/>
          </a:xfrm>
          <a:prstGeom prst="rect">
            <a:avLst/>
          </a:prstGeom>
        </p:spPr>
      </p:pic>
      <p:pic>
        <p:nvPicPr>
          <p:cNvPr id="95" name="Picture 94" descr="eccv_logo.png"/>
          <p:cNvPicPr>
            <a:picLocks noChangeAspect="1"/>
          </p:cNvPicPr>
          <p:nvPr/>
        </p:nvPicPr>
        <p:blipFill>
          <a:blip r:embed="rId5"/>
          <a:srcRect l="14120" t="22870" r="15000" b="25870"/>
          <a:stretch>
            <a:fillRect/>
          </a:stretch>
        </p:blipFill>
        <p:spPr>
          <a:xfrm>
            <a:off x="42905276" y="689820"/>
            <a:ext cx="6109344" cy="2841556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0854531" y="689820"/>
            <a:ext cx="30008215" cy="11079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dirty="0" err="1">
                <a:solidFill>
                  <a:srgbClr val="1482A5"/>
                </a:solidFill>
                <a:latin typeface="Arial"/>
              </a:rPr>
              <a:t>MeshFM</a:t>
            </a:r>
            <a:r>
              <a:rPr sz="7200" b="1" dirty="0">
                <a:solidFill>
                  <a:srgbClr val="1482A5"/>
                </a:solidFill>
                <a:latin typeface="Arial"/>
              </a:rPr>
              <a:t>:</a:t>
            </a:r>
            <a:r>
              <a:rPr sz="7200" b="1" dirty="0">
                <a:solidFill>
                  <a:srgbClr val="235078"/>
                </a:solidFill>
                <a:latin typeface="Arial"/>
              </a:rPr>
              <a:t> 2D Features Are All You Need for 3D Shape Understanding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0000" y="1800000"/>
            <a:ext cx="3492000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dirty="0">
                <a:solidFill>
                  <a:srgbClr val="235078"/>
                </a:solidFill>
                <a:latin typeface="Arial"/>
              </a:rPr>
              <a:t>Jinfan Zhou*</a:t>
            </a:r>
            <a:r>
              <a:rPr lang="en-US" altLang="zh-CN" sz="6000" dirty="0">
                <a:solidFill>
                  <a:srgbClr val="235078"/>
                </a:solidFill>
              </a:rPr>
              <a:t>,</a:t>
            </a:r>
            <a:r>
              <a:rPr lang="zh-CN" altLang="en-US" sz="6000" dirty="0">
                <a:solidFill>
                  <a:srgbClr val="235078"/>
                </a:solidFill>
              </a:rPr>
              <a:t> </a:t>
            </a:r>
            <a:r>
              <a:rPr sz="6000" dirty="0">
                <a:solidFill>
                  <a:srgbClr val="235078"/>
                </a:solidFill>
                <a:latin typeface="Arial"/>
              </a:rPr>
              <a:t>Richard Liu*</a:t>
            </a:r>
            <a:r>
              <a:rPr lang="en-US" altLang="zh-CN" sz="6000" dirty="0">
                <a:solidFill>
                  <a:srgbClr val="235078"/>
                </a:solidFill>
              </a:rPr>
              <a:t>,</a:t>
            </a:r>
            <a:r>
              <a:rPr lang="zh-CN" altLang="en-US" sz="6000" dirty="0">
                <a:solidFill>
                  <a:srgbClr val="235078"/>
                </a:solidFill>
              </a:rPr>
              <a:t> </a:t>
            </a:r>
            <a:r>
              <a:rPr sz="6000" dirty="0">
                <a:solidFill>
                  <a:srgbClr val="235078"/>
                </a:solidFill>
                <a:latin typeface="Arial"/>
              </a:rPr>
              <a:t>Itai Lang</a:t>
            </a:r>
            <a:r>
              <a:rPr lang="en-US" altLang="zh-CN" sz="6000" dirty="0">
                <a:solidFill>
                  <a:srgbClr val="235078"/>
                </a:solidFill>
              </a:rPr>
              <a:t>,</a:t>
            </a:r>
            <a:r>
              <a:rPr lang="zh-CN" altLang="en-US" sz="6000" dirty="0">
                <a:solidFill>
                  <a:srgbClr val="235078"/>
                </a:solidFill>
              </a:rPr>
              <a:t> </a:t>
            </a:r>
            <a:r>
              <a:rPr sz="6000" dirty="0">
                <a:solidFill>
                  <a:srgbClr val="235078"/>
                </a:solidFill>
                <a:latin typeface="Arial"/>
              </a:rPr>
              <a:t>Rana </a:t>
            </a:r>
            <a:r>
              <a:rPr sz="6000" dirty="0" err="1">
                <a:solidFill>
                  <a:srgbClr val="235078"/>
                </a:solidFill>
                <a:latin typeface="Arial"/>
              </a:rPr>
              <a:t>Hanocka</a:t>
            </a:r>
            <a:endParaRPr sz="6000" dirty="0">
              <a:solidFill>
                <a:srgbClr val="235078"/>
              </a:solidFill>
              <a:latin typeface="Arial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740000" y="2865472"/>
            <a:ext cx="349200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800" b="0" i="0" dirty="0">
                <a:solidFill>
                  <a:srgbClr val="1482A5"/>
                </a:solidFill>
                <a:latin typeface="Arial"/>
              </a:rPr>
              <a:t>University of Chicago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2047000" y="3653337"/>
            <a:ext cx="47520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3200" b="0" i="0" dirty="0">
                <a:solidFill>
                  <a:srgbClr val="527A8E"/>
                </a:solidFill>
                <a:latin typeface="Arial"/>
              </a:rPr>
              <a:t>* Equal contribution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92000" y="4392000"/>
            <a:ext cx="12960000" cy="10008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57150">
            <a:solidFill>
              <a:srgbClr val="235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887005" y="4567202"/>
            <a:ext cx="2769990" cy="8309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dirty="0">
                <a:solidFill>
                  <a:srgbClr val="235078"/>
                </a:solidFill>
                <a:latin typeface="Arial"/>
              </a:rPr>
              <a:t>Concept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96000" y="5447400"/>
            <a:ext cx="11952000" cy="1287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600" b="0" i="0" dirty="0">
                <a:solidFill>
                  <a:srgbClr val="235078"/>
                </a:solidFill>
                <a:latin typeface="Arial"/>
              </a:rPr>
              <a:t>Are 2D foundation-model features, on their own, enough for </a:t>
            </a:r>
            <a:r>
              <a:rPr lang="zh-CN" altLang="en-US" sz="3600" dirty="0">
                <a:solidFill>
                  <a:srgbClr val="235078"/>
                </a:solidFill>
              </a:rPr>
              <a:t> </a:t>
            </a:r>
            <a:r>
              <a:rPr sz="3600" b="1" i="0" dirty="0">
                <a:solidFill>
                  <a:srgbClr val="235078"/>
                </a:solidFill>
                <a:latin typeface="Arial"/>
              </a:rPr>
              <a:t>3D shape understanding</a:t>
            </a:r>
            <a:r>
              <a:rPr sz="3600" b="0" i="0" dirty="0">
                <a:solidFill>
                  <a:srgbClr val="235078"/>
                </a:solidFill>
                <a:latin typeface="Arial"/>
              </a:rPr>
              <a:t>?</a:t>
            </a:r>
          </a:p>
        </p:txBody>
      </p:sp>
      <p:pic>
        <p:nvPicPr>
          <p:cNvPr id="103" name="Picture 102" descr="teas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2450" y="6776784"/>
            <a:ext cx="11359101" cy="5940000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1296000" y="12932784"/>
            <a:ext cx="11952000" cy="1069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1000"/>
              </a:lnSpc>
              <a:spcAft>
                <a:spcPts val="0"/>
              </a:spcAft>
            </a:pPr>
            <a:r>
              <a:rPr sz="2800" b="1" i="0" dirty="0" err="1">
                <a:solidFill>
                  <a:srgbClr val="235078"/>
                </a:solidFill>
                <a:latin typeface="Arial"/>
              </a:rPr>
              <a:t>MeshFM</a:t>
            </a:r>
            <a:r>
              <a:rPr sz="2800" b="0" i="0" dirty="0">
                <a:solidFill>
                  <a:srgbClr val="173B52"/>
                </a:solidFill>
                <a:latin typeface="Arial"/>
              </a:rPr>
              <a:t> predicts a general-purpose, rotation-robust feature field for any mesh in </a:t>
            </a:r>
            <a:r>
              <a:rPr sz="2800" b="1" i="0" dirty="0">
                <a:solidFill>
                  <a:srgbClr val="235078"/>
                </a:solidFill>
                <a:latin typeface="Arial"/>
              </a:rPr>
              <a:t>one forward pass</a:t>
            </a:r>
            <a:r>
              <a:rPr sz="2800" b="0" i="0" dirty="0">
                <a:solidFill>
                  <a:srgbClr val="173B52"/>
                </a:solidFill>
                <a:latin typeface="Arial"/>
              </a:rPr>
              <a:t>, learned from </a:t>
            </a:r>
            <a:r>
              <a:rPr sz="2800" b="1" i="0" dirty="0">
                <a:solidFill>
                  <a:srgbClr val="235078"/>
                </a:solidFill>
                <a:latin typeface="Arial"/>
              </a:rPr>
              <a:t>2D supervision only</a:t>
            </a:r>
            <a:r>
              <a:rPr sz="2800" b="0" i="0" dirty="0">
                <a:solidFill>
                  <a:srgbClr val="173B52"/>
                </a:solidFill>
                <a:latin typeface="Arial"/>
              </a:rPr>
              <a:t>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92000" y="14976000"/>
            <a:ext cx="12960000" cy="9792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57150">
            <a:solidFill>
              <a:srgbClr val="235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732296" y="15151202"/>
            <a:ext cx="9079410" cy="8309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dirty="0">
                <a:solidFill>
                  <a:srgbClr val="235078"/>
                </a:solidFill>
                <a:latin typeface="Arial"/>
              </a:rPr>
              <a:t>Feature Aliasing Correction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96000" y="16031400"/>
            <a:ext cx="11952000" cy="12879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600" b="0" i="0" dirty="0" err="1">
                <a:solidFill>
                  <a:srgbClr val="235078"/>
                </a:solidFill>
                <a:latin typeface="Arial"/>
              </a:rPr>
              <a:t>ViT</a:t>
            </a:r>
            <a:r>
              <a:rPr sz="3600" b="0" i="0" dirty="0">
                <a:solidFill>
                  <a:srgbClr val="235078"/>
                </a:solidFill>
                <a:latin typeface="Arial"/>
              </a:rPr>
              <a:t> </a:t>
            </a:r>
            <a:r>
              <a:rPr sz="3600" b="0" i="0" dirty="0" err="1">
                <a:solidFill>
                  <a:srgbClr val="235078"/>
                </a:solidFill>
                <a:latin typeface="Arial"/>
              </a:rPr>
              <a:t>patchification</a:t>
            </a:r>
            <a:r>
              <a:rPr sz="3600" b="0" i="0" dirty="0">
                <a:solidFill>
                  <a:srgbClr val="235078"/>
                </a:solidFill>
                <a:latin typeface="Arial"/>
              </a:rPr>
              <a:t> </a:t>
            </a:r>
            <a:r>
              <a:rPr sz="3600" b="1" i="0" dirty="0">
                <a:solidFill>
                  <a:srgbClr val="235078"/>
                </a:solidFill>
                <a:latin typeface="Arial"/>
              </a:rPr>
              <a:t>bleeds</a:t>
            </a:r>
            <a:r>
              <a:rPr sz="3600" b="0" i="0" dirty="0">
                <a:solidFill>
                  <a:srgbClr val="235078"/>
                </a:solidFill>
                <a:latin typeface="Arial"/>
              </a:rPr>
              <a:t> features across part boundaries</a:t>
            </a:r>
            <a:r>
              <a:rPr lang="en-US" altLang="zh-CN" sz="3600" dirty="0">
                <a:solidFill>
                  <a:srgbClr val="235078"/>
                </a:solidFill>
              </a:rPr>
              <a:t>.</a:t>
            </a:r>
            <a:r>
              <a:rPr lang="zh-CN" altLang="en-US" sz="3600" dirty="0">
                <a:solidFill>
                  <a:srgbClr val="235078"/>
                </a:solidFill>
              </a:rPr>
              <a:t> </a:t>
            </a:r>
            <a:r>
              <a:rPr lang="en-US" altLang="zh-CN" sz="3600" dirty="0">
                <a:solidFill>
                  <a:srgbClr val="235078"/>
                </a:solidFill>
              </a:rPr>
              <a:t>D</a:t>
            </a:r>
            <a:r>
              <a:rPr sz="3600" b="0" i="0" dirty="0">
                <a:solidFill>
                  <a:srgbClr val="235078"/>
                </a:solidFill>
                <a:latin typeface="Arial"/>
              </a:rPr>
              <a:t>istillation alone does not </a:t>
            </a:r>
            <a:r>
              <a:rPr lang="en-US" altLang="zh-CN" sz="3600" dirty="0">
                <a:solidFill>
                  <a:srgbClr val="235078"/>
                </a:solidFill>
              </a:rPr>
              <a:t>solve</a:t>
            </a:r>
            <a:r>
              <a:rPr lang="zh-CN" altLang="en-US" sz="3600" dirty="0">
                <a:solidFill>
                  <a:srgbClr val="235078"/>
                </a:solidFill>
              </a:rPr>
              <a:t> </a:t>
            </a:r>
            <a:r>
              <a:rPr lang="en-US" altLang="zh-CN" sz="3600" dirty="0">
                <a:solidFill>
                  <a:srgbClr val="235078"/>
                </a:solidFill>
              </a:rPr>
              <a:t>this!</a:t>
            </a:r>
            <a:endParaRPr sz="3600" b="0" i="0" dirty="0">
              <a:solidFill>
                <a:srgbClr val="235078"/>
              </a:solidFill>
              <a:latin typeface="Arial"/>
            </a:endParaRPr>
          </a:p>
        </p:txBody>
      </p:sp>
      <p:pic>
        <p:nvPicPr>
          <p:cNvPr id="108" name="Picture 107" descr="bleed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3546" y="17579732"/>
            <a:ext cx="11736909" cy="561600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797232" y="23287040"/>
            <a:ext cx="13104000" cy="1069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1000"/>
              </a:lnSpc>
              <a:spcAft>
                <a:spcPts val="0"/>
              </a:spcAft>
            </a:pPr>
            <a:r>
              <a:rPr sz="2800" b="0" i="0" dirty="0">
                <a:solidFill>
                  <a:srgbClr val="173B52"/>
                </a:solidFill>
                <a:latin typeface="Arial"/>
              </a:rPr>
              <a:t>Each </a:t>
            </a:r>
            <a:r>
              <a:rPr sz="2800" b="1" i="0" dirty="0">
                <a:solidFill>
                  <a:srgbClr val="235078"/>
                </a:solidFill>
                <a:latin typeface="Arial"/>
              </a:rPr>
              <a:t>SAM</a:t>
            </a:r>
            <a:r>
              <a:rPr sz="2800" b="0" i="0" dirty="0">
                <a:solidFill>
                  <a:srgbClr val="173B52"/>
                </a:solidFill>
                <a:latin typeface="Arial"/>
              </a:rPr>
              <a:t> mask is one semantic cluster: pixels deviating from its median </a:t>
            </a:r>
            <a:r>
              <a:rPr sz="2800" b="1" i="0" dirty="0" err="1">
                <a:solidFill>
                  <a:srgbClr val="235078"/>
                </a:solidFill>
                <a:latin typeface="Arial"/>
              </a:rPr>
              <a:t>μ</a:t>
            </a:r>
            <a:r>
              <a:rPr sz="2800" b="0" i="0" dirty="0">
                <a:solidFill>
                  <a:srgbClr val="173B52"/>
                </a:solidFill>
                <a:latin typeface="Arial"/>
              </a:rPr>
              <a:t> are replaced by </a:t>
            </a:r>
            <a:r>
              <a:rPr sz="2800" b="1" i="0" dirty="0" err="1">
                <a:solidFill>
                  <a:srgbClr val="235078"/>
                </a:solidFill>
                <a:latin typeface="Arial"/>
              </a:rPr>
              <a:t>μ</a:t>
            </a:r>
            <a:r>
              <a:rPr sz="2800" b="0" i="0" dirty="0">
                <a:solidFill>
                  <a:srgbClr val="173B52"/>
                </a:solidFill>
                <a:latin typeface="Arial"/>
              </a:rPr>
              <a:t>. Boundaries stay sharp</a:t>
            </a:r>
            <a:r>
              <a:rPr lang="en-US" sz="2800" b="0" i="0" dirty="0">
                <a:solidFill>
                  <a:srgbClr val="173B52"/>
                </a:solidFill>
                <a:latin typeface="Arial"/>
              </a:rPr>
              <a:t>! </a:t>
            </a:r>
            <a:r>
              <a:rPr lang="en-US" altLang="zh-CN" sz="2800" dirty="0">
                <a:solidFill>
                  <a:srgbClr val="173B52"/>
                </a:solidFill>
              </a:rPr>
              <a:t>W</a:t>
            </a:r>
            <a:r>
              <a:rPr sz="2800" b="0" i="0" dirty="0">
                <a:solidFill>
                  <a:srgbClr val="173B52"/>
                </a:solidFill>
                <a:latin typeface="Arial"/>
              </a:rPr>
              <a:t>orth </a:t>
            </a:r>
            <a:r>
              <a:rPr sz="2800" b="1" i="0" dirty="0">
                <a:solidFill>
                  <a:srgbClr val="235078"/>
                </a:solidFill>
                <a:latin typeface="Arial"/>
              </a:rPr>
              <a:t>+3.1 </a:t>
            </a:r>
            <a:r>
              <a:rPr sz="2800" b="1" i="0" dirty="0" err="1">
                <a:solidFill>
                  <a:srgbClr val="235078"/>
                </a:solidFill>
                <a:latin typeface="Arial"/>
              </a:rPr>
              <a:t>mIoU</a:t>
            </a:r>
            <a:r>
              <a:rPr sz="2800" b="1" i="0" dirty="0">
                <a:solidFill>
                  <a:srgbClr val="235078"/>
                </a:solidFill>
                <a:latin typeface="Arial"/>
              </a:rPr>
              <a:t> for part segmentation</a:t>
            </a:r>
            <a:r>
              <a:rPr sz="2800" b="0" i="0" dirty="0">
                <a:solidFill>
                  <a:srgbClr val="173B52"/>
                </a:solidFill>
                <a:latin typeface="Arial"/>
              </a:rPr>
              <a:t>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92000" y="25344000"/>
            <a:ext cx="12960000" cy="9648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57150">
            <a:solidFill>
              <a:srgbClr val="235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213471" y="25519202"/>
            <a:ext cx="6117059" cy="8309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dirty="0">
                <a:solidFill>
                  <a:srgbClr val="235078"/>
                </a:solidFill>
                <a:latin typeface="Arial"/>
              </a:rPr>
              <a:t>Part Segmentation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71308" y="26399400"/>
            <a:ext cx="12456000" cy="1297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3000"/>
              </a:lnSpc>
              <a:spcAft>
                <a:spcPts val="0"/>
              </a:spcAft>
            </a:pPr>
            <a:r>
              <a:rPr sz="3600" b="0" i="0" dirty="0">
                <a:solidFill>
                  <a:srgbClr val="235078"/>
                </a:solidFill>
                <a:latin typeface="Arial"/>
              </a:rPr>
              <a:t>Our features are highly discriminative and rotation-robust, enabling part segmentation through direct feature clustering.</a:t>
            </a:r>
          </a:p>
        </p:txBody>
      </p:sp>
      <p:pic>
        <p:nvPicPr>
          <p:cNvPr id="113" name="Picture 112" descr="segcom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6776" y="27819529"/>
            <a:ext cx="9925063" cy="594000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1296000" y="33718528"/>
            <a:ext cx="11952000" cy="1016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2800" b="0" i="0" dirty="0">
                <a:solidFill>
                  <a:srgbClr val="527A8E"/>
                </a:solidFill>
                <a:latin typeface="Arial"/>
              </a:rPr>
              <a:t>Compared with recent baselines, our method produces substantially more accurate segmentations under arbitrary shape rotations.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4400000" y="4392000"/>
            <a:ext cx="21600000" cy="1224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57150">
            <a:solidFill>
              <a:srgbClr val="235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3968893" y="4567202"/>
            <a:ext cx="2462214" cy="8309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dirty="0">
                <a:solidFill>
                  <a:srgbClr val="235078"/>
                </a:solidFill>
                <a:latin typeface="Arial"/>
              </a:rPr>
              <a:t>Method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4904000" y="5447400"/>
            <a:ext cx="20592000" cy="603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600" b="0" i="0" dirty="0">
                <a:solidFill>
                  <a:srgbClr val="235078"/>
                </a:solidFill>
                <a:latin typeface="Arial"/>
              </a:rPr>
              <a:t>We train a feed-forward feature prediction model for 3D meshes </a:t>
            </a:r>
            <a:r>
              <a:rPr sz="3600" b="1" i="0" dirty="0">
                <a:solidFill>
                  <a:srgbClr val="1482A5"/>
                </a:solidFill>
                <a:latin typeface="Arial"/>
              </a:rPr>
              <a:t>without any 3D annotations</a:t>
            </a:r>
            <a:r>
              <a:rPr sz="3600" b="0" i="0" dirty="0">
                <a:solidFill>
                  <a:srgbClr val="235078"/>
                </a:solidFill>
                <a:latin typeface="Arial"/>
              </a:rPr>
              <a:t>.</a:t>
            </a:r>
          </a:p>
        </p:txBody>
      </p:sp>
      <p:pic>
        <p:nvPicPr>
          <p:cNvPr id="118" name="Picture 117" descr="pipeli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954164" y="6275400"/>
            <a:ext cx="18491671" cy="7812000"/>
          </a:xfrm>
          <a:prstGeom prst="rect">
            <a:avLst/>
          </a:prstGeom>
        </p:spPr>
      </p:pic>
      <p:sp>
        <p:nvSpPr>
          <p:cNvPr id="119" name="Oval 118"/>
          <p:cNvSpPr/>
          <p:nvPr/>
        </p:nvSpPr>
        <p:spPr>
          <a:xfrm>
            <a:off x="19689194" y="7300193"/>
            <a:ext cx="396000" cy="396000"/>
          </a:xfrm>
          <a:prstGeom prst="ellipse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0" name="Oval 119"/>
          <p:cNvSpPr/>
          <p:nvPr/>
        </p:nvSpPr>
        <p:spPr>
          <a:xfrm>
            <a:off x="19781650" y="9557718"/>
            <a:ext cx="396000" cy="396000"/>
          </a:xfrm>
          <a:prstGeom prst="ellipse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1" name="Oval 120"/>
          <p:cNvSpPr/>
          <p:nvPr/>
        </p:nvSpPr>
        <p:spPr>
          <a:xfrm>
            <a:off x="16520545" y="11032764"/>
            <a:ext cx="396000" cy="396000"/>
          </a:xfrm>
          <a:prstGeom prst="ellipse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2" name="Oval 121"/>
          <p:cNvSpPr/>
          <p:nvPr/>
        </p:nvSpPr>
        <p:spPr>
          <a:xfrm>
            <a:off x="27905192" y="7522620"/>
            <a:ext cx="396000" cy="396000"/>
          </a:xfrm>
          <a:prstGeom prst="ellipse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3" name="Oval 122"/>
          <p:cNvSpPr/>
          <p:nvPr/>
        </p:nvSpPr>
        <p:spPr>
          <a:xfrm>
            <a:off x="33038957" y="7328160"/>
            <a:ext cx="396000" cy="396000"/>
          </a:xfrm>
          <a:prstGeom prst="ellipse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4" name="Oval 123"/>
          <p:cNvSpPr/>
          <p:nvPr/>
        </p:nvSpPr>
        <p:spPr>
          <a:xfrm>
            <a:off x="27831051" y="11392407"/>
            <a:ext cx="396000" cy="396000"/>
          </a:xfrm>
          <a:prstGeom prst="ellipse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 dirty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5" name="Oval 124"/>
          <p:cNvSpPr/>
          <p:nvPr/>
        </p:nvSpPr>
        <p:spPr>
          <a:xfrm>
            <a:off x="14904000" y="14397000"/>
            <a:ext cx="342000" cy="342000"/>
          </a:xfrm>
          <a:prstGeom prst="ellipse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5390000" y="14375400"/>
            <a:ext cx="6162000" cy="413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400" b="0" i="0" dirty="0">
                <a:solidFill>
                  <a:srgbClr val="173B52"/>
                </a:solidFill>
                <a:latin typeface="Arial"/>
              </a:rPr>
              <a:t>Render </a:t>
            </a:r>
            <a:r>
              <a:rPr sz="2400" b="0" i="1" dirty="0">
                <a:solidFill>
                  <a:srgbClr val="173B52"/>
                </a:solidFill>
                <a:latin typeface="Arial"/>
              </a:rPr>
              <a:t>m</a:t>
            </a:r>
            <a:r>
              <a:rPr sz="2400" b="0" i="0" dirty="0">
                <a:solidFill>
                  <a:srgbClr val="173B52"/>
                </a:solidFill>
                <a:latin typeface="Arial"/>
              </a:rPr>
              <a:t> views of the mesh</a:t>
            </a:r>
          </a:p>
        </p:txBody>
      </p:sp>
      <p:sp>
        <p:nvSpPr>
          <p:cNvPr id="127" name="Oval 126"/>
          <p:cNvSpPr/>
          <p:nvPr/>
        </p:nvSpPr>
        <p:spPr>
          <a:xfrm>
            <a:off x="21876000" y="14397000"/>
            <a:ext cx="342000" cy="342000"/>
          </a:xfrm>
          <a:prstGeom prst="ellipse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2362000" y="14375400"/>
            <a:ext cx="6162000" cy="871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400" b="0" i="0" dirty="0">
                <a:solidFill>
                  <a:srgbClr val="173B52"/>
                </a:solidFill>
                <a:latin typeface="Arial"/>
              </a:rPr>
              <a:t>Encode each view with a 2D foundation model (DINOv2) + </a:t>
            </a:r>
            <a:r>
              <a:rPr sz="2400" b="1" i="0" dirty="0">
                <a:solidFill>
                  <a:srgbClr val="235078"/>
                </a:solidFill>
                <a:latin typeface="Arial"/>
              </a:rPr>
              <a:t>SAM aliasing correction</a:t>
            </a:r>
          </a:p>
        </p:txBody>
      </p:sp>
      <p:sp>
        <p:nvSpPr>
          <p:cNvPr id="129" name="Oval 128"/>
          <p:cNvSpPr/>
          <p:nvPr/>
        </p:nvSpPr>
        <p:spPr>
          <a:xfrm>
            <a:off x="28848000" y="14397000"/>
            <a:ext cx="342000" cy="342000"/>
          </a:xfrm>
          <a:prstGeom prst="ellipse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9334000" y="14375400"/>
            <a:ext cx="6162000" cy="871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400" b="0" i="0">
                <a:solidFill>
                  <a:srgbClr val="173B52"/>
                </a:solidFill>
                <a:latin typeface="Arial"/>
              </a:rPr>
              <a:t>Fit a continuous 3D teacher field </a:t>
            </a:r>
            <a:r>
              <a:rPr sz="2400" b="1" i="0">
                <a:solidFill>
                  <a:srgbClr val="235078"/>
                </a:solidFill>
                <a:latin typeface="Arial"/>
              </a:rPr>
              <a:t>Φ</a:t>
            </a:r>
            <a:r>
              <a:rPr sz="2400" b="0" i="0">
                <a:solidFill>
                  <a:srgbClr val="173B52"/>
                </a:solidFill>
                <a:latin typeface="Arial"/>
              </a:rPr>
              <a:t>, supervised at every rasterized </a:t>
            </a:r>
            <a:r>
              <a:rPr sz="2400" b="0" i="1">
                <a:solidFill>
                  <a:srgbClr val="173B52"/>
                </a:solidFill>
                <a:latin typeface="Arial"/>
              </a:rPr>
              <a:t>pixel</a:t>
            </a:r>
          </a:p>
        </p:txBody>
      </p:sp>
      <p:sp>
        <p:nvSpPr>
          <p:cNvPr id="131" name="Oval 130"/>
          <p:cNvSpPr/>
          <p:nvPr/>
        </p:nvSpPr>
        <p:spPr>
          <a:xfrm>
            <a:off x="14904000" y="15333000"/>
            <a:ext cx="342000" cy="342000"/>
          </a:xfrm>
          <a:prstGeom prst="ellipse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5390000" y="15311400"/>
            <a:ext cx="6162000" cy="871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400" b="0" i="0">
                <a:solidFill>
                  <a:srgbClr val="173B52"/>
                </a:solidFill>
                <a:latin typeface="Arial"/>
              </a:rPr>
              <a:t>A </a:t>
            </a:r>
            <a:r>
              <a:rPr sz="2400" b="1" i="0">
                <a:solidFill>
                  <a:srgbClr val="235078"/>
                </a:solidFill>
                <a:latin typeface="Arial"/>
              </a:rPr>
              <a:t>PVCNN</a:t>
            </a:r>
            <a:r>
              <a:rPr sz="2400" b="0" i="0">
                <a:solidFill>
                  <a:srgbClr val="173B52"/>
                </a:solidFill>
                <a:latin typeface="Arial"/>
              </a:rPr>
              <a:t> encoder lifts the sampled point cloud onto a triplane</a:t>
            </a:r>
          </a:p>
        </p:txBody>
      </p:sp>
      <p:sp>
        <p:nvSpPr>
          <p:cNvPr id="133" name="Oval 132"/>
          <p:cNvSpPr/>
          <p:nvPr/>
        </p:nvSpPr>
        <p:spPr>
          <a:xfrm>
            <a:off x="21876000" y="15333000"/>
            <a:ext cx="342000" cy="342000"/>
          </a:xfrm>
          <a:prstGeom prst="ellipse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2362000" y="15311400"/>
            <a:ext cx="6162000" cy="871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400" b="0" i="0" dirty="0">
                <a:solidFill>
                  <a:srgbClr val="173B52"/>
                </a:solidFill>
                <a:latin typeface="Arial"/>
              </a:rPr>
              <a:t>A triplane transformer forms </a:t>
            </a:r>
            <a:r>
              <a:rPr sz="2400" b="1" i="0" dirty="0" err="1">
                <a:solidFill>
                  <a:srgbClr val="235078"/>
                </a:solidFill>
                <a:latin typeface="Arial"/>
              </a:rPr>
              <a:t>Ψ</a:t>
            </a:r>
            <a:r>
              <a:rPr sz="2400" b="0" i="0" dirty="0">
                <a:solidFill>
                  <a:srgbClr val="173B52"/>
                </a:solidFill>
                <a:latin typeface="Arial"/>
              </a:rPr>
              <a:t>, trained with </a:t>
            </a:r>
            <a:r>
              <a:rPr sz="2400" b="1" i="0" dirty="0">
                <a:solidFill>
                  <a:srgbClr val="235078"/>
                </a:solidFill>
                <a:latin typeface="Arial"/>
              </a:rPr>
              <a:t>SO(3)</a:t>
            </a:r>
            <a:r>
              <a:rPr sz="2400" b="0" i="0" dirty="0">
                <a:solidFill>
                  <a:srgbClr val="173B52"/>
                </a:solidFill>
                <a:latin typeface="Arial"/>
              </a:rPr>
              <a:t> augmentation to a full 2π</a:t>
            </a:r>
          </a:p>
        </p:txBody>
      </p:sp>
      <p:sp>
        <p:nvSpPr>
          <p:cNvPr id="135" name="Oval 134"/>
          <p:cNvSpPr/>
          <p:nvPr/>
        </p:nvSpPr>
        <p:spPr>
          <a:xfrm>
            <a:off x="28848000" y="15333000"/>
            <a:ext cx="342000" cy="342000"/>
          </a:xfrm>
          <a:prstGeom prst="ellipse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9334000" y="15311400"/>
            <a:ext cx="6162000" cy="871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400" b="1" i="0" dirty="0" err="1">
                <a:solidFill>
                  <a:srgbClr val="235078"/>
                </a:solidFill>
                <a:latin typeface="Arial"/>
              </a:rPr>
              <a:t>Ψ</a:t>
            </a:r>
            <a:r>
              <a:rPr sz="2400" b="0" i="0" dirty="0">
                <a:solidFill>
                  <a:srgbClr val="173B52"/>
                </a:solidFill>
                <a:latin typeface="Arial"/>
              </a:rPr>
              <a:t> regresses the frozen teacher fiel</a:t>
            </a:r>
            <a:r>
              <a:rPr lang="en-US" sz="2400" b="0" i="0" dirty="0">
                <a:solidFill>
                  <a:srgbClr val="173B52"/>
                </a:solidFill>
                <a:latin typeface="Arial"/>
              </a:rPr>
              <a:t>d</a:t>
            </a:r>
            <a:r>
              <a:rPr lang="en-US" altLang="zh-CN" sz="2400" dirty="0">
                <a:solidFill>
                  <a:srgbClr val="173B52"/>
                </a:solidFill>
              </a:rPr>
              <a:t>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400" b="0" i="0" dirty="0">
                <a:solidFill>
                  <a:srgbClr val="173B52"/>
                </a:solidFill>
                <a:latin typeface="Arial"/>
              </a:rPr>
              <a:t>one forward pass per new shape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4400000" y="17208000"/>
            <a:ext cx="21600000" cy="10872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57150">
            <a:solidFill>
              <a:srgbClr val="235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20198630" y="17383202"/>
            <a:ext cx="10002739" cy="8309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dirty="0">
                <a:solidFill>
                  <a:srgbClr val="235078"/>
                </a:solidFill>
                <a:latin typeface="Arial"/>
              </a:rPr>
              <a:t>Part Segmentation Granularity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4904000" y="18263400"/>
            <a:ext cx="20592000" cy="6036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600" b="0" i="0" dirty="0">
                <a:solidFill>
                  <a:srgbClr val="235078"/>
                </a:solidFill>
                <a:latin typeface="Arial"/>
              </a:rPr>
              <a:t>The same </a:t>
            </a:r>
            <a:r>
              <a:rPr sz="3600" b="0" i="0" dirty="0" err="1">
                <a:solidFill>
                  <a:srgbClr val="235078"/>
                </a:solidFill>
                <a:latin typeface="Arial"/>
              </a:rPr>
              <a:t>MeshFM</a:t>
            </a:r>
            <a:r>
              <a:rPr sz="3600" b="0" i="0" dirty="0">
                <a:solidFill>
                  <a:srgbClr val="235078"/>
                </a:solidFill>
                <a:latin typeface="Arial"/>
              </a:rPr>
              <a:t> feature field supports segmentation at multiple semantic granularities.</a:t>
            </a:r>
          </a:p>
        </p:txBody>
      </p:sp>
      <p:pic>
        <p:nvPicPr>
          <p:cNvPr id="140" name="Picture 139" descr="granularit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24476" y="19127400"/>
            <a:ext cx="17351048" cy="7740000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14904000" y="27011400"/>
            <a:ext cx="20592000" cy="482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4000"/>
              </a:lnSpc>
              <a:spcAft>
                <a:spcPts val="0"/>
              </a:spcAft>
            </a:pPr>
            <a:r>
              <a:rPr sz="2800" b="0" i="0" dirty="0">
                <a:solidFill>
                  <a:srgbClr val="527A8E"/>
                </a:solidFill>
                <a:latin typeface="Arial"/>
              </a:rPr>
              <a:t>By changing only the clustering granularity, we reveal coherent parts from coarse assemblies to fine geometric details.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4400000" y="28656000"/>
            <a:ext cx="21600000" cy="633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57150">
            <a:solidFill>
              <a:srgbClr val="235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22179943" y="28831202"/>
            <a:ext cx="6040115" cy="8309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dirty="0">
                <a:solidFill>
                  <a:srgbClr val="235078"/>
                </a:solidFill>
                <a:latin typeface="Arial"/>
              </a:rPr>
              <a:t>Mesh Deformation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4904000" y="29711400"/>
            <a:ext cx="20592000" cy="5953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lang="en-US" sz="3600" b="0" i="0" dirty="0">
                <a:solidFill>
                  <a:srgbClr val="235078"/>
                </a:solidFill>
                <a:latin typeface="Arial"/>
              </a:rPr>
              <a:t>We use </a:t>
            </a:r>
            <a:r>
              <a:rPr lang="en-US" sz="3600" b="0" i="0" dirty="0" err="1">
                <a:solidFill>
                  <a:srgbClr val="235078"/>
                </a:solidFill>
                <a:latin typeface="Arial"/>
              </a:rPr>
              <a:t>MeshFM</a:t>
            </a:r>
            <a:r>
              <a:rPr lang="en-US" sz="3600" b="0" i="0" dirty="0">
                <a:solidFill>
                  <a:srgbClr val="235078"/>
                </a:solidFill>
                <a:latin typeface="Arial"/>
              </a:rPr>
              <a:t> with the recent feature-based deformation method DFD [Liu </a:t>
            </a:r>
            <a:r>
              <a:rPr lang="en-US" sz="3600" b="0" i="1" dirty="0">
                <a:solidFill>
                  <a:srgbClr val="235078"/>
                </a:solidFill>
                <a:latin typeface="Arial"/>
              </a:rPr>
              <a:t>et al.</a:t>
            </a:r>
            <a:r>
              <a:rPr lang="en-US" sz="3600" b="0" i="0" dirty="0">
                <a:solidFill>
                  <a:srgbClr val="235078"/>
                </a:solidFill>
                <a:latin typeface="Arial"/>
              </a:rPr>
              <a:t>, CVPR 2026].</a:t>
            </a:r>
            <a:endParaRPr sz="3600" b="0" i="0" dirty="0">
              <a:solidFill>
                <a:srgbClr val="235078"/>
              </a:solidFill>
              <a:latin typeface="Arial"/>
            </a:endParaRPr>
          </a:p>
        </p:txBody>
      </p:sp>
      <p:pic>
        <p:nvPicPr>
          <p:cNvPr id="145" name="Picture 144" descr="defor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54073" y="30467400"/>
            <a:ext cx="17891855" cy="3240000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14904000" y="33790415"/>
            <a:ext cx="20592000" cy="1009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3000"/>
              </a:lnSpc>
              <a:spcAft>
                <a:spcPts val="0"/>
              </a:spcAft>
            </a:pPr>
            <a:r>
              <a:rPr sz="2800" b="1" i="0" dirty="0">
                <a:solidFill>
                  <a:srgbClr val="FF0000"/>
                </a:solidFill>
                <a:latin typeface="Arial"/>
              </a:rPr>
              <a:t>Red</a:t>
            </a:r>
            <a:r>
              <a:rPr sz="2800" b="0" i="0" dirty="0">
                <a:solidFill>
                  <a:srgbClr val="527A8E"/>
                </a:solidFill>
                <a:latin typeface="Arial"/>
              </a:rPr>
              <a:t> marks transformed handles and </a:t>
            </a:r>
            <a:r>
              <a:rPr sz="2800" b="1" i="0" dirty="0">
                <a:solidFill>
                  <a:srgbClr val="00B050"/>
                </a:solidFill>
                <a:latin typeface="Arial"/>
              </a:rPr>
              <a:t>green</a:t>
            </a:r>
            <a:r>
              <a:rPr sz="2800" b="0" i="0" dirty="0">
                <a:solidFill>
                  <a:srgbClr val="527A8E"/>
                </a:solidFill>
                <a:latin typeface="Arial"/>
              </a:rPr>
              <a:t> marks their targets. </a:t>
            </a:r>
            <a:endParaRPr lang="en-US" sz="2800" b="0" i="0" dirty="0">
              <a:solidFill>
                <a:srgbClr val="527A8E"/>
              </a:solidFill>
              <a:latin typeface="Arial"/>
            </a:endParaRPr>
          </a:p>
          <a:p>
            <a:pPr algn="ctr">
              <a:lnSpc>
                <a:spcPct val="123000"/>
              </a:lnSpc>
              <a:spcAft>
                <a:spcPts val="0"/>
              </a:spcAft>
            </a:pPr>
            <a:r>
              <a:rPr sz="2800" b="0" i="0" dirty="0">
                <a:solidFill>
                  <a:srgbClr val="527A8E"/>
                </a:solidFill>
                <a:latin typeface="Arial"/>
              </a:rPr>
              <a:t>Our flexible semantic features produce smooth, plausible shape deformations.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6648000" y="4392000"/>
            <a:ext cx="12960000" cy="1101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57150">
            <a:solidFill>
              <a:srgbClr val="235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39242321" y="4567202"/>
            <a:ext cx="7771358" cy="8309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dirty="0">
                <a:solidFill>
                  <a:srgbClr val="235078"/>
                </a:solidFill>
                <a:latin typeface="Arial"/>
              </a:rPr>
              <a:t>Dense Correspondence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7152000" y="5447400"/>
            <a:ext cx="11952000" cy="1268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600" b="0" i="0" dirty="0">
                <a:solidFill>
                  <a:srgbClr val="235078"/>
                </a:solidFill>
                <a:latin typeface="Arial"/>
              </a:rPr>
              <a:t>We compute dense correspondence between two shapes by feeding our features into a standard functional map.</a:t>
            </a:r>
          </a:p>
        </p:txBody>
      </p:sp>
      <p:pic>
        <p:nvPicPr>
          <p:cNvPr id="150" name="Picture 149" descr="corr_sr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52000" y="6829580"/>
            <a:ext cx="11952000" cy="7248529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36764073" y="14147273"/>
            <a:ext cx="12752073" cy="1039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7000"/>
              </a:lnSpc>
              <a:spcAft>
                <a:spcPts val="0"/>
              </a:spcAft>
            </a:pPr>
            <a:r>
              <a:rPr sz="2800" b="0" i="0" dirty="0">
                <a:solidFill>
                  <a:srgbClr val="527A8E"/>
                </a:solidFill>
                <a:latin typeface="Arial"/>
              </a:rPr>
              <a:t>The match is visualized by transferring color. Baselines carry a strong </a:t>
            </a:r>
            <a:r>
              <a:rPr sz="2800" b="1" i="0" dirty="0">
                <a:solidFill>
                  <a:srgbClr val="527A8E"/>
                </a:solidFill>
                <a:latin typeface="Arial"/>
              </a:rPr>
              <a:t>canonical-pose bias</a:t>
            </a:r>
            <a:r>
              <a:rPr sz="2800" b="0" i="0" dirty="0">
                <a:solidFill>
                  <a:srgbClr val="527A8E"/>
                </a:solidFill>
                <a:latin typeface="Arial"/>
              </a:rPr>
              <a:t>; our features stay consistent when either shape is rotated.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6648000" y="15984000"/>
            <a:ext cx="12960000" cy="1245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57150">
            <a:solidFill>
              <a:srgbClr val="235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41877657" y="16159202"/>
            <a:ext cx="2500686" cy="8309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dirty="0">
                <a:solidFill>
                  <a:srgbClr val="235078"/>
                </a:solidFill>
                <a:latin typeface="Arial"/>
              </a:rPr>
              <a:t>Results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7152000" y="17095383"/>
            <a:ext cx="11952000" cy="649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1000"/>
              </a:lnSpc>
              <a:spcAft>
                <a:spcPts val="0"/>
              </a:spcAft>
            </a:pPr>
            <a:r>
              <a:rPr sz="3600" b="0" i="0" dirty="0">
                <a:solidFill>
                  <a:srgbClr val="1482A5"/>
                </a:solidFill>
                <a:latin typeface="Arial"/>
              </a:rPr>
              <a:t>Canonical Orientation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7331955" y="17742182"/>
            <a:ext cx="1808045" cy="2520000"/>
          </a:xfrm>
          <a:prstGeom prst="rect">
            <a:avLst/>
          </a:prstGeom>
          <a:solidFill>
            <a:srgbClr val="FB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7152000" y="17778182"/>
            <a:ext cx="4807508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50" b="1" i="0">
                <a:solidFill>
                  <a:srgbClr val="235078"/>
                </a:solidFill>
                <a:latin typeface="Arial"/>
              </a:rPr>
              <a:t>Benchmark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1959508" y="17778182"/>
            <a:ext cx="1936358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50" b="1" i="0">
                <a:solidFill>
                  <a:srgbClr val="235078"/>
                </a:solidFill>
                <a:latin typeface="Arial"/>
              </a:rPr>
              <a:t>Diff3F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3895866" y="17778182"/>
            <a:ext cx="1669274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50" b="1" i="0">
                <a:solidFill>
                  <a:srgbClr val="235078"/>
                </a:solidFill>
                <a:latin typeface="Arial"/>
              </a:rPr>
              <a:t>D.M.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5565140" y="17778182"/>
            <a:ext cx="1802816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50" b="1" i="0">
                <a:solidFill>
                  <a:srgbClr val="235078"/>
                </a:solidFill>
                <a:latin typeface="Arial"/>
              </a:rPr>
              <a:t>PartF.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7367955" y="17778182"/>
            <a:ext cx="1736045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50" b="1" i="0">
                <a:solidFill>
                  <a:srgbClr val="B4562A"/>
                </a:solidFill>
                <a:latin typeface="Arial"/>
              </a:rPr>
              <a:t>Ours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7152000" y="18174182"/>
            <a:ext cx="11952000" cy="25200"/>
          </a:xfrm>
          <a:prstGeom prst="rect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37152000" y="18253382"/>
            <a:ext cx="480750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PartObjaverse mIoU↑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1959508" y="18253382"/>
            <a:ext cx="193635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.515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3895866" y="18253382"/>
            <a:ext cx="1669274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–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5565140" y="18253382"/>
            <a:ext cx="1802816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.542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7367955" y="18253382"/>
            <a:ext cx="1736045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B4562A"/>
                </a:solidFill>
                <a:latin typeface="Arial"/>
              </a:rPr>
              <a:t>.549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7152000" y="18613382"/>
            <a:ext cx="11952000" cy="12600"/>
          </a:xfrm>
          <a:prstGeom prst="rect">
            <a:avLst/>
          </a:prstGeom>
          <a:solidFill>
            <a:srgbClr val="BF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37152000" y="18649382"/>
            <a:ext cx="480750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PartNetE mIoU↑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1959508" y="18649382"/>
            <a:ext cx="193635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.496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3895866" y="18649382"/>
            <a:ext cx="1669274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–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565140" y="18649382"/>
            <a:ext cx="1802816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.517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7367955" y="18649382"/>
            <a:ext cx="1736045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B4562A"/>
                </a:solidFill>
                <a:latin typeface="Arial"/>
              </a:rPr>
              <a:t>.520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7152000" y="19009382"/>
            <a:ext cx="11952000" cy="12600"/>
          </a:xfrm>
          <a:prstGeom prst="rect">
            <a:avLst/>
          </a:prstGeom>
          <a:solidFill>
            <a:srgbClr val="BF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7152000" y="19045382"/>
            <a:ext cx="480750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 dirty="0">
                <a:solidFill>
                  <a:srgbClr val="173B52"/>
                </a:solidFill>
                <a:latin typeface="Arial"/>
              </a:rPr>
              <a:t>DenseCorr3D AUC↑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1959508" y="19045382"/>
            <a:ext cx="193635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.46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3895866" y="19045382"/>
            <a:ext cx="1669274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.50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5565140" y="19045382"/>
            <a:ext cx="1802816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.35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7367955" y="19045382"/>
            <a:ext cx="1736045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B4562A"/>
                </a:solidFill>
                <a:latin typeface="Arial"/>
              </a:rPr>
              <a:t>.52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7152000" y="19405382"/>
            <a:ext cx="11952000" cy="12600"/>
          </a:xfrm>
          <a:prstGeom prst="rect">
            <a:avLst/>
          </a:prstGeom>
          <a:solidFill>
            <a:srgbClr val="BF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37152000" y="19441382"/>
            <a:ext cx="480750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TOSCA AUC↑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1959508" y="19441382"/>
            <a:ext cx="193635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.48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895866" y="19441382"/>
            <a:ext cx="1669274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.11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5565140" y="19441382"/>
            <a:ext cx="1802816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.25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7367955" y="19441382"/>
            <a:ext cx="1736045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B4562A"/>
                </a:solidFill>
                <a:latin typeface="Arial"/>
              </a:rPr>
              <a:t>.34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7152000" y="19801382"/>
            <a:ext cx="11952000" cy="12600"/>
          </a:xfrm>
          <a:prstGeom prst="rect">
            <a:avLst/>
          </a:prstGeom>
          <a:solidFill>
            <a:srgbClr val="BF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37152000" y="19837382"/>
            <a:ext cx="480750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Manifold40 acc↑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1959508" y="19837382"/>
            <a:ext cx="193635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.88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3895866" y="19837382"/>
            <a:ext cx="1669274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.82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45565140" y="19837382"/>
            <a:ext cx="1802816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.85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7367955" y="19837382"/>
            <a:ext cx="1736045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B4562A"/>
                </a:solidFill>
                <a:latin typeface="Arial"/>
              </a:rPr>
              <a:t>.92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7152000" y="20497828"/>
            <a:ext cx="11952000" cy="649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1000"/>
              </a:lnSpc>
              <a:spcAft>
                <a:spcPts val="0"/>
              </a:spcAft>
            </a:pPr>
            <a:r>
              <a:rPr sz="3600" b="0" i="0" dirty="0">
                <a:solidFill>
                  <a:srgbClr val="B4562A"/>
                </a:solidFill>
                <a:latin typeface="Arial"/>
              </a:rPr>
              <a:t>SO(3) Rotated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7331955" y="21200045"/>
            <a:ext cx="1808045" cy="2520000"/>
          </a:xfrm>
          <a:prstGeom prst="rect">
            <a:avLst/>
          </a:prstGeom>
          <a:solidFill>
            <a:srgbClr val="FB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37152000" y="21236045"/>
            <a:ext cx="4807508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50" b="1" i="0">
                <a:solidFill>
                  <a:srgbClr val="235078"/>
                </a:solidFill>
                <a:latin typeface="Arial"/>
              </a:rPr>
              <a:t>Benchmark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41959508" y="21236045"/>
            <a:ext cx="1936358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50" b="1" i="0">
                <a:solidFill>
                  <a:srgbClr val="235078"/>
                </a:solidFill>
                <a:latin typeface="Arial"/>
              </a:rPr>
              <a:t>Diff3F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3895866" y="21236045"/>
            <a:ext cx="1669274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50" b="1" i="0">
                <a:solidFill>
                  <a:srgbClr val="235078"/>
                </a:solidFill>
                <a:latin typeface="Arial"/>
              </a:rPr>
              <a:t>D.M.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5565140" y="21236045"/>
            <a:ext cx="1802816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50" b="1" i="0">
                <a:solidFill>
                  <a:srgbClr val="235078"/>
                </a:solidFill>
                <a:latin typeface="Arial"/>
              </a:rPr>
              <a:t>PartF.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7367955" y="21236045"/>
            <a:ext cx="1736045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50" b="1" i="0">
                <a:solidFill>
                  <a:srgbClr val="B4562A"/>
                </a:solidFill>
                <a:latin typeface="Arial"/>
              </a:rPr>
              <a:t>Ours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37152000" y="21632045"/>
            <a:ext cx="11952000" cy="25200"/>
          </a:xfrm>
          <a:prstGeom prst="rect">
            <a:avLst/>
          </a:prstGeom>
          <a:solidFill>
            <a:srgbClr val="23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37152000" y="21711245"/>
            <a:ext cx="480750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PartObjaverse mIoU↑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1959508" y="21711245"/>
            <a:ext cx="193635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.488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3895866" y="21711245"/>
            <a:ext cx="1669274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–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5565140" y="21711245"/>
            <a:ext cx="1802816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.393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7367955" y="21711245"/>
            <a:ext cx="1736045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B4562A"/>
                </a:solidFill>
                <a:latin typeface="Arial"/>
              </a:rPr>
              <a:t>.539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37152000" y="22071245"/>
            <a:ext cx="11952000" cy="12600"/>
          </a:xfrm>
          <a:prstGeom prst="rect">
            <a:avLst/>
          </a:prstGeom>
          <a:solidFill>
            <a:srgbClr val="BF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37152000" y="22107245"/>
            <a:ext cx="480750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PartNetE mIoU↑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1959508" y="22107245"/>
            <a:ext cx="193635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.501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3895866" y="22107245"/>
            <a:ext cx="1669274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–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5565140" y="22107245"/>
            <a:ext cx="1802816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.499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7367955" y="22107245"/>
            <a:ext cx="1736045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B4562A"/>
                </a:solidFill>
                <a:latin typeface="Arial"/>
              </a:rPr>
              <a:t>.510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7152000" y="22467245"/>
            <a:ext cx="11952000" cy="12600"/>
          </a:xfrm>
          <a:prstGeom prst="rect">
            <a:avLst/>
          </a:prstGeom>
          <a:solidFill>
            <a:srgbClr val="BF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37152000" y="22503245"/>
            <a:ext cx="480750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DenseCorr3D AUC↑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1959508" y="22503245"/>
            <a:ext cx="193635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.42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3895866" y="22503245"/>
            <a:ext cx="1669274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.46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5565140" y="22503245"/>
            <a:ext cx="1802816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.24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7367955" y="22503245"/>
            <a:ext cx="1736045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B4562A"/>
                </a:solidFill>
                <a:latin typeface="Arial"/>
              </a:rPr>
              <a:t>.50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37152000" y="22863245"/>
            <a:ext cx="11952000" cy="12600"/>
          </a:xfrm>
          <a:prstGeom prst="rect">
            <a:avLst/>
          </a:prstGeom>
          <a:solidFill>
            <a:srgbClr val="BF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37152000" y="22899245"/>
            <a:ext cx="480750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TOSCA AUC↑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1959508" y="22899245"/>
            <a:ext cx="193635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.28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3895866" y="22899245"/>
            <a:ext cx="1669274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.02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45565140" y="22899245"/>
            <a:ext cx="1802816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.05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47367955" y="22899245"/>
            <a:ext cx="1736045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B4562A"/>
                </a:solidFill>
                <a:latin typeface="Arial"/>
              </a:rPr>
              <a:t>.33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37152000" y="23259245"/>
            <a:ext cx="11952000" cy="12600"/>
          </a:xfrm>
          <a:prstGeom prst="rect">
            <a:avLst/>
          </a:prstGeom>
          <a:solidFill>
            <a:srgbClr val="BFD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37152000" y="23295245"/>
            <a:ext cx="480750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Manifold40 acc↑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1959508" y="23295245"/>
            <a:ext cx="1936358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.33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3895866" y="23295245"/>
            <a:ext cx="1669274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.28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5565140" y="23295245"/>
            <a:ext cx="1802816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173B52"/>
                </a:solidFill>
                <a:latin typeface="Arial"/>
              </a:rPr>
              <a:t>.41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7367955" y="23295245"/>
            <a:ext cx="1736045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B4562A"/>
                </a:solidFill>
                <a:latin typeface="Arial"/>
              </a:rPr>
              <a:t>.85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7152000" y="23754954"/>
            <a:ext cx="11952000" cy="4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 i="0" dirty="0">
                <a:solidFill>
                  <a:srgbClr val="527A8E"/>
                </a:solidFill>
                <a:latin typeface="Arial"/>
              </a:rPr>
              <a:t>–  </a:t>
            </a:r>
            <a:r>
              <a:rPr sz="1800" b="0" i="0" dirty="0" err="1">
                <a:solidFill>
                  <a:srgbClr val="527A8E"/>
                </a:solidFill>
                <a:latin typeface="Arial"/>
              </a:rPr>
              <a:t>DenseMatcher</a:t>
            </a:r>
            <a:r>
              <a:rPr sz="1800" b="0" i="0" dirty="0">
                <a:solidFill>
                  <a:srgbClr val="527A8E"/>
                </a:solidFill>
                <a:latin typeface="Arial"/>
              </a:rPr>
              <a:t> fails on the non-manifold meshes in the segmentation benchmarks.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37152000" y="24240666"/>
            <a:ext cx="11952000" cy="1296000"/>
          </a:xfrm>
          <a:prstGeom prst="roundRect">
            <a:avLst>
              <a:gd name="adj" fmla="val 12000"/>
            </a:avLst>
          </a:prstGeom>
          <a:solidFill>
            <a:srgbClr val="EA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37368000" y="24420666"/>
            <a:ext cx="11520000" cy="10470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  <a:spcAft>
                <a:spcPts val="0"/>
              </a:spcAft>
            </a:pPr>
            <a:r>
              <a:rPr sz="2800" b="1" i="0" dirty="0">
                <a:solidFill>
                  <a:srgbClr val="235078"/>
                </a:solidFill>
                <a:latin typeface="Arial"/>
              </a:rPr>
              <a:t>On par</a:t>
            </a:r>
            <a:r>
              <a:rPr sz="2800" b="0" i="0" dirty="0">
                <a:solidFill>
                  <a:srgbClr val="173B52"/>
                </a:solidFill>
                <a:latin typeface="Arial"/>
              </a:rPr>
              <a:t> with task-specific SOTA in canonical pose — and the </a:t>
            </a:r>
            <a:r>
              <a:rPr sz="2800" b="1" i="0" dirty="0">
                <a:solidFill>
                  <a:srgbClr val="235078"/>
                </a:solidFill>
                <a:latin typeface="Arial"/>
              </a:rPr>
              <a:t>only</a:t>
            </a:r>
            <a:r>
              <a:rPr sz="2800" b="0" i="0" dirty="0">
                <a:solidFill>
                  <a:srgbClr val="173B52"/>
                </a:solidFill>
                <a:latin typeface="Arial"/>
              </a:rPr>
              <a:t> method that holds up under arbitrary rotation, from </a:t>
            </a:r>
            <a:r>
              <a:rPr sz="2800" b="1" i="0" dirty="0">
                <a:solidFill>
                  <a:srgbClr val="235078"/>
                </a:solidFill>
                <a:latin typeface="Arial"/>
              </a:rPr>
              <a:t>one</a:t>
            </a:r>
            <a:r>
              <a:rPr sz="2800" b="0" i="0" dirty="0">
                <a:solidFill>
                  <a:srgbClr val="173B52"/>
                </a:solidFill>
                <a:latin typeface="Arial"/>
              </a:rPr>
              <a:t> feature set.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36648000" y="29016000"/>
            <a:ext cx="12960000" cy="597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57150">
            <a:solidFill>
              <a:srgbClr val="235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40300303" y="29191202"/>
            <a:ext cx="5655394" cy="83099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dirty="0">
                <a:solidFill>
                  <a:srgbClr val="235078"/>
                </a:solidFill>
                <a:latin typeface="Arial"/>
              </a:rPr>
              <a:t>More Information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7311799" y="30240000"/>
            <a:ext cx="367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3600" b="0" i="0" dirty="0">
                <a:solidFill>
                  <a:srgbClr val="1482A5"/>
                </a:solidFill>
                <a:latin typeface="Arial"/>
              </a:rPr>
              <a:t>Project </a:t>
            </a:r>
            <a:r>
              <a:rPr sz="3600" b="0" i="0" dirty="0">
                <a:solidFill>
                  <a:srgbClr val="1482A5"/>
                </a:solidFill>
                <a:latin typeface="Arial"/>
              </a:rPr>
              <a:t>Page</a:t>
            </a:r>
          </a:p>
        </p:txBody>
      </p:sp>
      <p:pic>
        <p:nvPicPr>
          <p:cNvPr id="235" name="Picture 234" descr="qr_p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311799" y="30780000"/>
            <a:ext cx="3672000" cy="3672000"/>
          </a:xfrm>
          <a:prstGeom prst="rect">
            <a:avLst/>
          </a:prstGeom>
        </p:spPr>
      </p:pic>
      <p:sp>
        <p:nvSpPr>
          <p:cNvPr id="236" name="TextBox 235"/>
          <p:cNvSpPr txBox="1"/>
          <p:nvPr/>
        </p:nvSpPr>
        <p:spPr>
          <a:xfrm>
            <a:off x="41291999" y="30240000"/>
            <a:ext cx="367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0" i="0" dirty="0">
                <a:solidFill>
                  <a:srgbClr val="1482A5"/>
                </a:solidFill>
                <a:latin typeface="Arial"/>
              </a:rPr>
              <a:t>Paper</a:t>
            </a:r>
          </a:p>
        </p:txBody>
      </p:sp>
      <p:pic>
        <p:nvPicPr>
          <p:cNvPr id="237" name="Picture 236" descr="qr_pap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291999" y="30780000"/>
            <a:ext cx="3672000" cy="3672000"/>
          </a:xfrm>
          <a:prstGeom prst="rect">
            <a:avLst/>
          </a:prstGeom>
        </p:spPr>
      </p:pic>
      <p:sp>
        <p:nvSpPr>
          <p:cNvPr id="238" name="TextBox 237"/>
          <p:cNvSpPr txBox="1"/>
          <p:nvPr/>
        </p:nvSpPr>
        <p:spPr>
          <a:xfrm>
            <a:off x="45272199" y="30240000"/>
            <a:ext cx="3672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600" b="0" i="0" dirty="0">
                <a:solidFill>
                  <a:srgbClr val="1482A5"/>
                </a:solidFill>
                <a:latin typeface="Arial"/>
              </a:rPr>
              <a:t>Code</a:t>
            </a:r>
          </a:p>
        </p:txBody>
      </p:sp>
      <p:pic>
        <p:nvPicPr>
          <p:cNvPr id="239" name="Picture 238" descr="qr_cod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272199" y="30780000"/>
            <a:ext cx="3672000" cy="3672000"/>
          </a:xfrm>
          <a:prstGeom prst="rect">
            <a:avLst/>
          </a:prstGeom>
        </p:spPr>
      </p:pic>
      <p:sp>
        <p:nvSpPr>
          <p:cNvPr id="240" name="TextBox 239"/>
          <p:cNvSpPr txBox="1"/>
          <p:nvPr/>
        </p:nvSpPr>
        <p:spPr>
          <a:xfrm>
            <a:off x="875128" y="35159413"/>
            <a:ext cx="25200000" cy="306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1000"/>
              </a:lnSpc>
              <a:spcAft>
                <a:spcPts val="0"/>
              </a:spcAft>
            </a:pPr>
            <a:r>
              <a:rPr sz="1700" b="0" i="0" dirty="0" err="1">
                <a:solidFill>
                  <a:srgbClr val="EAF6FA"/>
                </a:solidFill>
                <a:latin typeface="Arial"/>
              </a:rPr>
              <a:t>MeshFM</a:t>
            </a:r>
            <a:r>
              <a:rPr lang="en-US" altLang="zh-CN" sz="1700" dirty="0">
                <a:solidFill>
                  <a:srgbClr val="EAF6FA"/>
                </a:solidFill>
              </a:rPr>
              <a:t>:</a:t>
            </a:r>
            <a:r>
              <a:rPr sz="1700" b="0" i="0" dirty="0">
                <a:solidFill>
                  <a:srgbClr val="EAF6FA"/>
                </a:solidFill>
                <a:latin typeface="Arial"/>
              </a:rPr>
              <a:t> 2D Features Are All You Need for 3D Shape Understanding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4283308" y="35184622"/>
            <a:ext cx="252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1000"/>
              </a:lnSpc>
              <a:spcAft>
                <a:spcPts val="0"/>
              </a:spcAft>
            </a:pPr>
            <a:r>
              <a:rPr sz="1700" b="0" i="0" dirty="0">
                <a:solidFill>
                  <a:srgbClr val="EAF6FA"/>
                </a:solidFill>
                <a:latin typeface="Arial"/>
              </a:rPr>
              <a:t>ECCV 2026  ·  Malmö, Sweden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C1ECB19-5EAE-7B72-D6A5-5303DF2D9A4E}"/>
              </a:ext>
            </a:extLst>
          </p:cNvPr>
          <p:cNvGrpSpPr/>
          <p:nvPr/>
        </p:nvGrpSpPr>
        <p:grpSpPr>
          <a:xfrm>
            <a:off x="37152000" y="25740874"/>
            <a:ext cx="11952000" cy="1296000"/>
            <a:chOff x="37152000" y="25999992"/>
            <a:chExt cx="11952000" cy="1296000"/>
          </a:xfrm>
        </p:grpSpPr>
        <p:sp>
          <p:nvSpPr>
            <p:cNvPr id="3" name="Rounded Rectangle 228">
              <a:extLst>
                <a:ext uri="{FF2B5EF4-FFF2-40B4-BE49-F238E27FC236}">
                  <a16:creationId xmlns:a16="http://schemas.microsoft.com/office/drawing/2014/main" id="{677D9112-6C0A-90BC-E29A-AC48BC6B770F}"/>
                </a:ext>
              </a:extLst>
            </p:cNvPr>
            <p:cNvSpPr/>
            <p:nvPr/>
          </p:nvSpPr>
          <p:spPr>
            <a:xfrm>
              <a:off x="37152000" y="25999992"/>
              <a:ext cx="11952000" cy="1296000"/>
            </a:xfrm>
            <a:prstGeom prst="roundRect">
              <a:avLst>
                <a:gd name="adj" fmla="val 12000"/>
              </a:avLst>
            </a:prstGeom>
            <a:solidFill>
              <a:srgbClr val="EAF4F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" name="TextBox 229">
              <a:extLst>
                <a:ext uri="{FF2B5EF4-FFF2-40B4-BE49-F238E27FC236}">
                  <a16:creationId xmlns:a16="http://schemas.microsoft.com/office/drawing/2014/main" id="{65B6A52C-4E15-746B-41EF-2510A4851F81}"/>
                </a:ext>
              </a:extLst>
            </p:cNvPr>
            <p:cNvSpPr txBox="1"/>
            <p:nvPr/>
          </p:nvSpPr>
          <p:spPr>
            <a:xfrm>
              <a:off x="37380109" y="26244652"/>
              <a:ext cx="11520000" cy="10469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8000"/>
                </a:lnSpc>
                <a:spcAft>
                  <a:spcPts val="0"/>
                </a:spcAft>
              </a:pPr>
              <a:r>
                <a:rPr lang="en-US" altLang="zh-CN" sz="2800" b="0" i="0" dirty="0">
                  <a:solidFill>
                    <a:srgbClr val="173B52"/>
                  </a:solidFill>
                  <a:latin typeface="Arial"/>
                </a:rPr>
                <a:t>Our</a:t>
              </a:r>
              <a:r>
                <a:rPr lang="zh-CN" altLang="en-US" sz="2800" b="0" i="0" dirty="0">
                  <a:solidFill>
                    <a:srgbClr val="173B52"/>
                  </a:solidFill>
                  <a:latin typeface="Arial"/>
                </a:rPr>
                <a:t> </a:t>
              </a:r>
              <a:r>
                <a:rPr lang="en-US" altLang="zh-CN" sz="2800" b="0" i="0" dirty="0">
                  <a:solidFill>
                    <a:srgbClr val="173B52"/>
                  </a:solidFill>
                  <a:latin typeface="Arial"/>
                </a:rPr>
                <a:t>method</a:t>
              </a:r>
              <a:r>
                <a:rPr lang="zh-CN" altLang="en-US" sz="2800" b="0" i="0" dirty="0">
                  <a:solidFill>
                    <a:srgbClr val="173B52"/>
                  </a:solidFill>
                  <a:latin typeface="Arial"/>
                </a:rPr>
                <a:t> </a:t>
              </a:r>
              <a:r>
                <a:rPr lang="en-US" altLang="zh-CN" sz="2800" b="0" i="0" dirty="0">
                  <a:solidFill>
                    <a:srgbClr val="173B52"/>
                  </a:solidFill>
                  <a:latin typeface="Arial"/>
                </a:rPr>
                <a:t>trains</a:t>
              </a:r>
              <a:r>
                <a:rPr lang="zh-CN" altLang="en-US" sz="2800" b="0" i="0" dirty="0">
                  <a:solidFill>
                    <a:srgbClr val="173B52"/>
                  </a:solidFill>
                  <a:latin typeface="Arial"/>
                </a:rPr>
                <a:t> </a:t>
              </a:r>
              <a:r>
                <a:rPr lang="en-US" altLang="zh-CN" sz="2800" b="1" i="0" dirty="0">
                  <a:solidFill>
                    <a:srgbClr val="173B52"/>
                  </a:solidFill>
                  <a:latin typeface="Arial"/>
                </a:rPr>
                <a:t>without</a:t>
              </a:r>
              <a:r>
                <a:rPr lang="zh-CN" altLang="en-US" sz="2800" b="1" i="0" dirty="0">
                  <a:solidFill>
                    <a:srgbClr val="173B52"/>
                  </a:solidFill>
                  <a:latin typeface="Arial"/>
                </a:rPr>
                <a:t> </a:t>
              </a:r>
              <a:r>
                <a:rPr lang="en-US" altLang="zh-CN" sz="2800" b="1" i="0" dirty="0">
                  <a:solidFill>
                    <a:srgbClr val="173B52"/>
                  </a:solidFill>
                  <a:latin typeface="Arial"/>
                </a:rPr>
                <a:t>any</a:t>
              </a:r>
              <a:r>
                <a:rPr lang="zh-CN" altLang="en-US" sz="2800" b="1" i="0" dirty="0">
                  <a:solidFill>
                    <a:srgbClr val="173B52"/>
                  </a:solidFill>
                  <a:latin typeface="Arial"/>
                </a:rPr>
                <a:t> </a:t>
              </a:r>
              <a:r>
                <a:rPr lang="en-US" altLang="zh-CN" sz="2800" b="1" i="0" dirty="0">
                  <a:solidFill>
                    <a:srgbClr val="173B52"/>
                  </a:solidFill>
                  <a:latin typeface="Arial"/>
                </a:rPr>
                <a:t>3D</a:t>
              </a:r>
              <a:r>
                <a:rPr lang="zh-CN" altLang="en-US" sz="2800" b="1" i="0" dirty="0">
                  <a:solidFill>
                    <a:srgbClr val="173B52"/>
                  </a:solidFill>
                  <a:latin typeface="Arial"/>
                </a:rPr>
                <a:t> </a:t>
              </a:r>
              <a:r>
                <a:rPr lang="en-US" altLang="zh-CN" sz="2800" b="1" dirty="0">
                  <a:solidFill>
                    <a:srgbClr val="173B52"/>
                  </a:solidFill>
                </a:rPr>
                <a:t>annotations</a:t>
              </a:r>
              <a:r>
                <a:rPr lang="zh-CN" altLang="en-US" sz="2800" b="1" dirty="0">
                  <a:solidFill>
                    <a:srgbClr val="173B52"/>
                  </a:solidFill>
                </a:rPr>
                <a:t> </a:t>
              </a:r>
              <a:r>
                <a:rPr lang="en-US" altLang="zh-CN" sz="2800" dirty="0">
                  <a:solidFill>
                    <a:srgbClr val="173B52"/>
                  </a:solidFill>
                </a:rPr>
                <a:t>and</a:t>
              </a:r>
              <a:r>
                <a:rPr lang="zh-CN" altLang="en-US" sz="2800" dirty="0">
                  <a:solidFill>
                    <a:srgbClr val="173B52"/>
                  </a:solidFill>
                </a:rPr>
                <a:t> </a:t>
              </a:r>
              <a:r>
                <a:rPr lang="en-US" altLang="zh-CN" sz="2800" dirty="0">
                  <a:solidFill>
                    <a:srgbClr val="173B52"/>
                  </a:solidFill>
                </a:rPr>
                <a:t>fully</a:t>
              </a:r>
              <a:r>
                <a:rPr lang="zh-CN" altLang="en-US" sz="2800" dirty="0">
                  <a:solidFill>
                    <a:srgbClr val="173B52"/>
                  </a:solidFill>
                </a:rPr>
                <a:t> </a:t>
              </a:r>
              <a:r>
                <a:rPr lang="en-US" altLang="zh-CN" sz="2800" dirty="0">
                  <a:solidFill>
                    <a:srgbClr val="173B52"/>
                  </a:solidFill>
                </a:rPr>
                <a:t>utilizes</a:t>
              </a:r>
              <a:r>
                <a:rPr lang="zh-CN" altLang="en-US" sz="2800" dirty="0">
                  <a:solidFill>
                    <a:srgbClr val="173B52"/>
                  </a:solidFill>
                </a:rPr>
                <a:t> </a:t>
              </a:r>
              <a:r>
                <a:rPr lang="en-US" altLang="zh-CN" sz="2800" dirty="0">
                  <a:solidFill>
                    <a:srgbClr val="173B52"/>
                  </a:solidFill>
                </a:rPr>
                <a:t>the</a:t>
              </a:r>
              <a:r>
                <a:rPr lang="zh-CN" altLang="en-US" sz="2800" dirty="0">
                  <a:solidFill>
                    <a:srgbClr val="173B52"/>
                  </a:solidFill>
                </a:rPr>
                <a:t> </a:t>
              </a:r>
              <a:r>
                <a:rPr lang="en-US" altLang="zh-CN" sz="2800" dirty="0">
                  <a:solidFill>
                    <a:srgbClr val="173B52"/>
                  </a:solidFill>
                </a:rPr>
                <a:t>power</a:t>
              </a:r>
              <a:r>
                <a:rPr lang="zh-CN" altLang="en-US" sz="2800" dirty="0">
                  <a:solidFill>
                    <a:srgbClr val="173B52"/>
                  </a:solidFill>
                </a:rPr>
                <a:t> </a:t>
              </a:r>
              <a:r>
                <a:rPr lang="en-US" altLang="zh-CN" sz="2800" dirty="0">
                  <a:solidFill>
                    <a:srgbClr val="173B52"/>
                  </a:solidFill>
                </a:rPr>
                <a:t>of</a:t>
              </a:r>
              <a:r>
                <a:rPr lang="zh-CN" altLang="en-US" sz="2800" dirty="0">
                  <a:solidFill>
                    <a:srgbClr val="173B52"/>
                  </a:solidFill>
                </a:rPr>
                <a:t> </a:t>
              </a:r>
              <a:r>
                <a:rPr lang="en-US" altLang="zh-CN" sz="2800" dirty="0">
                  <a:solidFill>
                    <a:srgbClr val="173B52"/>
                  </a:solidFill>
                </a:rPr>
                <a:t>2D</a:t>
              </a:r>
              <a:r>
                <a:rPr lang="zh-CN" altLang="en-US" sz="2800" dirty="0">
                  <a:solidFill>
                    <a:srgbClr val="173B52"/>
                  </a:solidFill>
                </a:rPr>
                <a:t> </a:t>
              </a:r>
              <a:r>
                <a:rPr lang="en-US" altLang="zh-CN" sz="2800" dirty="0">
                  <a:solidFill>
                    <a:srgbClr val="173B52"/>
                  </a:solidFill>
                </a:rPr>
                <a:t>foundation</a:t>
              </a:r>
              <a:r>
                <a:rPr lang="zh-CN" altLang="en-US" sz="2800" dirty="0">
                  <a:solidFill>
                    <a:srgbClr val="173B52"/>
                  </a:solidFill>
                </a:rPr>
                <a:t> </a:t>
              </a:r>
              <a:r>
                <a:rPr lang="en-US" altLang="zh-CN" sz="2800" dirty="0">
                  <a:solidFill>
                    <a:srgbClr val="173B52"/>
                  </a:solidFill>
                </a:rPr>
                <a:t>visual</a:t>
              </a:r>
              <a:r>
                <a:rPr lang="zh-CN" altLang="en-US" sz="2800" dirty="0">
                  <a:solidFill>
                    <a:srgbClr val="173B52"/>
                  </a:solidFill>
                </a:rPr>
                <a:t> </a:t>
              </a:r>
              <a:r>
                <a:rPr lang="en-US" altLang="zh-CN" sz="2800" dirty="0">
                  <a:solidFill>
                    <a:srgbClr val="173B52"/>
                  </a:solidFill>
                </a:rPr>
                <a:t>models.</a:t>
              </a:r>
              <a:endParaRPr sz="2800" b="0" i="0" dirty="0">
                <a:solidFill>
                  <a:srgbClr val="173B52"/>
                </a:solidFill>
                <a:latin typeface="Arial"/>
              </a:endParaRPr>
            </a:p>
          </p:txBody>
        </p:sp>
      </p:grpSp>
      <p:cxnSp>
        <p:nvCxnSpPr>
          <p:cNvPr id="600" name="Title Rule 600"/>
          <p:cNvCxnSpPr>
            <a:cxnSpLocks/>
          </p:cNvCxnSpPr>
          <p:nvPr/>
        </p:nvCxnSpPr>
        <p:spPr>
          <a:xfrm>
            <a:off x="5025945" y="4982210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01" name="Title Rule 601"/>
          <p:cNvCxnSpPr>
            <a:cxnSpLocks/>
          </p:cNvCxnSpPr>
          <p:nvPr/>
        </p:nvCxnSpPr>
        <p:spPr>
          <a:xfrm>
            <a:off x="8910995" y="4982210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02" name="Title Rule 602"/>
          <p:cNvCxnSpPr/>
          <p:nvPr/>
        </p:nvCxnSpPr>
        <p:spPr>
          <a:xfrm>
            <a:off x="1871236" y="15566390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03" name="Title Rule 603"/>
          <p:cNvCxnSpPr/>
          <p:nvPr/>
        </p:nvCxnSpPr>
        <p:spPr>
          <a:xfrm>
            <a:off x="12065705" y="15566390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04" name="Title Rule 604"/>
          <p:cNvCxnSpPr/>
          <p:nvPr/>
        </p:nvCxnSpPr>
        <p:spPr>
          <a:xfrm>
            <a:off x="3352410" y="25934670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05" name="Title Rule 605"/>
          <p:cNvCxnSpPr/>
          <p:nvPr/>
        </p:nvCxnSpPr>
        <p:spPr>
          <a:xfrm>
            <a:off x="10584530" y="25934670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06" name="Title Rule 606"/>
          <p:cNvCxnSpPr>
            <a:cxnSpLocks/>
          </p:cNvCxnSpPr>
          <p:nvPr/>
        </p:nvCxnSpPr>
        <p:spPr>
          <a:xfrm>
            <a:off x="23107833" y="4982210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07" name="Title Rule 607"/>
          <p:cNvCxnSpPr>
            <a:cxnSpLocks/>
          </p:cNvCxnSpPr>
          <p:nvPr/>
        </p:nvCxnSpPr>
        <p:spPr>
          <a:xfrm>
            <a:off x="26685107" y="4982210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08" name="Title Rule 608"/>
          <p:cNvCxnSpPr>
            <a:cxnSpLocks/>
          </p:cNvCxnSpPr>
          <p:nvPr/>
        </p:nvCxnSpPr>
        <p:spPr>
          <a:xfrm>
            <a:off x="19337569" y="17799050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09" name="Title Rule 609"/>
          <p:cNvCxnSpPr>
            <a:cxnSpLocks/>
          </p:cNvCxnSpPr>
          <p:nvPr/>
        </p:nvCxnSpPr>
        <p:spPr>
          <a:xfrm>
            <a:off x="30455368" y="17799050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10" name="Title Rule 610"/>
          <p:cNvCxnSpPr>
            <a:cxnSpLocks/>
          </p:cNvCxnSpPr>
          <p:nvPr/>
        </p:nvCxnSpPr>
        <p:spPr>
          <a:xfrm>
            <a:off x="21318883" y="29246830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11" name="Title Rule 611"/>
          <p:cNvCxnSpPr>
            <a:cxnSpLocks/>
          </p:cNvCxnSpPr>
          <p:nvPr/>
        </p:nvCxnSpPr>
        <p:spPr>
          <a:xfrm>
            <a:off x="28474058" y="29246830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12" name="Title Rule 612"/>
          <p:cNvCxnSpPr>
            <a:cxnSpLocks/>
          </p:cNvCxnSpPr>
          <p:nvPr/>
        </p:nvCxnSpPr>
        <p:spPr>
          <a:xfrm>
            <a:off x="38381260" y="4982210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13" name="Title Rule 613"/>
          <p:cNvCxnSpPr>
            <a:cxnSpLocks/>
          </p:cNvCxnSpPr>
          <p:nvPr/>
        </p:nvCxnSpPr>
        <p:spPr>
          <a:xfrm>
            <a:off x="47267678" y="4982210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14" name="Title Rule 614"/>
          <p:cNvCxnSpPr>
            <a:cxnSpLocks/>
          </p:cNvCxnSpPr>
          <p:nvPr/>
        </p:nvCxnSpPr>
        <p:spPr>
          <a:xfrm>
            <a:off x="41016596" y="16574769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15" name="Title Rule 615"/>
          <p:cNvCxnSpPr>
            <a:cxnSpLocks/>
          </p:cNvCxnSpPr>
          <p:nvPr/>
        </p:nvCxnSpPr>
        <p:spPr>
          <a:xfrm>
            <a:off x="44632342" y="16574769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16" name="Title Rule 616"/>
          <p:cNvCxnSpPr>
            <a:cxnSpLocks/>
          </p:cNvCxnSpPr>
          <p:nvPr/>
        </p:nvCxnSpPr>
        <p:spPr>
          <a:xfrm>
            <a:off x="39439243" y="29606239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cxnSp>
        <p:nvCxnSpPr>
          <p:cNvPr id="617" name="Title Rule 617"/>
          <p:cNvCxnSpPr>
            <a:cxnSpLocks/>
          </p:cNvCxnSpPr>
          <p:nvPr/>
        </p:nvCxnSpPr>
        <p:spPr>
          <a:xfrm>
            <a:off x="46209697" y="29606239"/>
            <a:ext cx="607060" cy="0"/>
          </a:xfrm>
          <a:prstGeom prst="line">
            <a:avLst/>
          </a:prstGeom>
          <a:ln w="31750" cap="rnd">
            <a:solidFill>
              <a:srgbClr val="235078"/>
            </a:solidFill>
          </a:ln>
        </p:spPr>
        <p:style>
          <a:lnRef idx="1">
            <a:srgbClr val="235078"/>
          </a:lnRef>
          <a:fillRef idx="0">
            <a:srgbClr val="235078"/>
          </a:fillRef>
          <a:effectRef idx="0">
            <a:srgbClr val="235078"/>
          </a:effectRef>
          <a:fontRef idx="minor">
            <a:schemeClr val="tx1"/>
          </a:fontRef>
        </p:style>
      </p:cxnSp>
      <p:sp>
        <p:nvSpPr>
          <p:cNvPr id="2" name="Rounded Rectangle 228">
            <a:extLst>
              <a:ext uri="{FF2B5EF4-FFF2-40B4-BE49-F238E27FC236}">
                <a16:creationId xmlns:a16="http://schemas.microsoft.com/office/drawing/2014/main" id="{206FE02F-300C-47C9-FEC7-28CC4582F285}"/>
              </a:ext>
            </a:extLst>
          </p:cNvPr>
          <p:cNvSpPr/>
          <p:nvPr/>
        </p:nvSpPr>
        <p:spPr>
          <a:xfrm>
            <a:off x="37152000" y="27233072"/>
            <a:ext cx="11952000" cy="808129"/>
          </a:xfrm>
          <a:prstGeom prst="roundRect">
            <a:avLst>
              <a:gd name="adj" fmla="val 12000"/>
            </a:avLst>
          </a:prstGeom>
          <a:solidFill>
            <a:srgbClr val="EA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36951687" y="27388357"/>
            <a:ext cx="11952000" cy="48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800" b="0" i="0" dirty="0">
                <a:solidFill>
                  <a:srgbClr val="173B52"/>
                </a:solidFill>
                <a:latin typeface="Arial"/>
              </a:rPr>
              <a:t>Feature extraction: </a:t>
            </a:r>
            <a:r>
              <a:rPr sz="2800" b="1" i="0" dirty="0">
                <a:solidFill>
                  <a:srgbClr val="235078"/>
                </a:solidFill>
                <a:latin typeface="Arial"/>
              </a:rPr>
              <a:t>0.13 s</a:t>
            </a:r>
            <a:r>
              <a:rPr sz="2800" b="0" i="0" dirty="0">
                <a:solidFill>
                  <a:srgbClr val="173B52"/>
                </a:solidFill>
                <a:latin typeface="Arial"/>
              </a:rPr>
              <a:t> per shape</a:t>
            </a:r>
            <a:r>
              <a:rPr lang="en-US" altLang="zh-CN" sz="2800" b="0" i="0" dirty="0">
                <a:solidFill>
                  <a:srgbClr val="173B52"/>
                </a:solidFill>
                <a:latin typeface="Arial"/>
              </a:rPr>
              <a:t>,</a:t>
            </a:r>
            <a:r>
              <a:rPr lang="zh-CN" altLang="en-US" sz="2800" dirty="0">
                <a:solidFill>
                  <a:srgbClr val="173B52"/>
                </a:solidFill>
              </a:rPr>
              <a:t> </a:t>
            </a:r>
            <a:r>
              <a:rPr sz="2800" b="1" i="0" dirty="0">
                <a:solidFill>
                  <a:srgbClr val="235078"/>
                </a:solidFill>
                <a:latin typeface="Arial"/>
              </a:rPr>
              <a:t>7,400×</a:t>
            </a:r>
            <a:r>
              <a:rPr sz="2800" b="0" i="0" dirty="0">
                <a:solidFill>
                  <a:srgbClr val="173B52"/>
                </a:solidFill>
                <a:latin typeface="Arial"/>
              </a:rPr>
              <a:t> faster than Diff3F</a:t>
            </a:r>
            <a:r>
              <a:rPr lang="en-US" altLang="zh-CN" sz="2800" b="0" i="0" dirty="0">
                <a:solidFill>
                  <a:srgbClr val="173B52"/>
                </a:solidFill>
                <a:latin typeface="Arial"/>
              </a:rPr>
              <a:t>!</a:t>
            </a:r>
            <a:endParaRPr sz="2800" b="0" i="0" dirty="0">
              <a:solidFill>
                <a:srgbClr val="173B5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8789082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Metro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6438E10-7F02-B34C-8589-70313A55944F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a49bebd-9e53-46f3-a931-51e0682300b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604</Words>
  <Application>Microsoft Macintosh PowerPoint</Application>
  <PresentationFormat>自定义</PresentationFormat>
  <Paragraphs>118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Blank Presentation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Zhou, Jinfan</cp:lastModifiedBy>
  <cp:revision>7</cp:revision>
  <dcterms:modified xsi:type="dcterms:W3CDTF">2026-08-21T23:22:43Z</dcterms:modified>
</cp:coreProperties>
</file>